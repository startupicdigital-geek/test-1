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Default Extension="fntdata" ContentType="application/x-fontdata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embedTrueTypeFonts="1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969" cy="6858000" type="screen4x3"/>
  <p:notesSz cx="6858000" cy="9144000"/>
  <p:embeddedFontLst>
    <p:embeddedFont>
      <p:font typeface="Montserrat"/>
      <p:regular r:id="rIdFont1"/>
    </p:embeddedFont>
    <p:embeddedFont>
      <p:font typeface="Montserrat Medium"/>
      <p:regular r:id="rIdFont2"/>
    </p:embeddedFont>
    <p:embeddedFont>
      <p:font typeface="Montserrat SemiBold"/>
      <p:regular r:id="rIdFont3"/>
    </p:embeddedFont>
    <p:embeddedFont>
      <p:font typeface="Montserrat Bold"/>
      <p:regular r:id="rIdFont4"/>
    </p:embeddedFont>
    <p:embeddedFont>
      <p:font typeface="Montserrat ExtraBold"/>
      <p:regular r:id="rIdFont5"/>
    </p:embeddedFont>
    <p:embeddedFont>
      <p:font typeface="Montserrat Black"/>
      <p:regular r:id="rIdFont6"/>
    </p:embeddedFont>
    <p:embeddedFont>
      <p:font typeface="Inter"/>
      <p:regular r:id="rIdFont7"/>
    </p:embeddedFont>
    <p:embeddedFont>
      <p:font typeface="Inter Medium"/>
      <p:regular r:id="rIdFont8"/>
    </p:embeddedFont>
    <p:embeddedFont>
      <p:font typeface="Inter SemiBold"/>
      <p:regular r:id="rIdFont9"/>
    </p:embeddedFont>
    <p:embeddedFont>
      <p:font typeface="Inter Bold"/>
      <p:regular r:id="rIdFont10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notesMaster" Target="notesMasters/notesMaster1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Relationship Id="rIdFont3" Type="http://schemas.openxmlformats.org/officeDocument/2006/relationships/font" Target="fonts/font3.fntdata"/><Relationship Id="rIdFont4" Type="http://schemas.openxmlformats.org/officeDocument/2006/relationships/font" Target="fonts/font4.fntdata"/><Relationship Id="rIdFont5" Type="http://schemas.openxmlformats.org/officeDocument/2006/relationships/font" Target="fonts/font5.fntdata"/><Relationship Id="rIdFont6" Type="http://schemas.openxmlformats.org/officeDocument/2006/relationships/font" Target="fonts/font6.fntdata"/><Relationship Id="rIdFont7" Type="http://schemas.openxmlformats.org/officeDocument/2006/relationships/font" Target="fonts/font7.fntdata"/><Relationship Id="rIdFont8" Type="http://schemas.openxmlformats.org/officeDocument/2006/relationships/font" Target="fonts/font8.fntdata"/><Relationship Id="rIdFont9" Type="http://schemas.openxmlformats.org/officeDocument/2006/relationships/font" Target="fonts/font9.fntdata"/><Relationship Id="rIdFont10" Type="http://schemas.openxmlformats.org/officeDocument/2006/relationships/font" Target="fonts/font10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Accroche d'ouverture. Te présenter en 30 secondes, annoncer la promesse : à la fin de ce live, ils sauront comment Facebook paie et comment encaisser même depuis un pays inéligible. Annoncer qu'une offre spéciale les attend à la fin.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Donner la carte du voyage. Insister : 80% valeur, le reste c'est pour ceux qui veulent aller plus vite avec mon accompagnement.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Raconte ça avec émotion, c'est ton arme la plus forte. Le public doit se reconnaître. Termine sur : si moi j'ai réussi en partant de cette galère, toi tu peux aller plus vite.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cœur de la partie 1. Le test 1-2% est le 'aha moment' du public. Insiste sur le HOOK. Donne un exemple concret tiré de tes propres vidéos.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 sur deux pièges concrets : (1) la liaison FB-IG qui fait perdre des pages, (2) ne jamais sponsoriser la page qu'on veut monétiser.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 commentaire ou un partage vaut 10 fois un like. Explique la polarisation avec un exemple. Rappelle : la régularité protège aussi ton RPM dans les pays inéligibles.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CMP n'accepte pas étoiles, abonnements ni contenu de marque. Précise que des programmes arrivent : Storefront, affiliation Amazon.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compte de règlement est le pont vers cette partie inéligible. C'est là que 90% des créateurs des pays inéligibles tombent.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TON angle différenciant, le contenu que personne d'autre n'enseigne aussi clairement. Reste sur la logique sans transformer le live en tuto technique : le détail pas-à-pas, c'est le rôle du guide et des vidéos.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 donne pas tout le détail de la procédure de recours ici — c'est précisément la valeur du guide et de l'accompagnement. Dis qu'elle existe, qu'elle marche, et que tu la détailles pas-à-pas dans le pack.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Transition vers la vente : tu as commencé en vendant des laptops avec moins de 1000 abonnés. Le digital amplifie tout. C'est le pont naturel vers ton offre.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Bascule douce vers la vente. Rappelle que le guide seul sous-estime l'offre : c'est guide + vidéos + communauté. Enchaîne directement sur les 3 offres.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Présente les 3 paliers dans l'ordre. Insiste sur le PACK comme évidence (pour quelques milliers de plus, le double de valeur). L'accompagnement crée la rareté. Remplace [PRIX LIVE] par tes chiffres avant dimanche.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Chiffres réels au moment de la prépa : à actualiser si besoin avant dimanche. Raconte un cas client précis de déblocage de page si tu en as un sous la main.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Clôture énergique. Rappelle l'offre spéciale et la rareté de l'accompagnement. Ouvre le Q&amp;A. Donne le lien WhatsApp en clair pour ceux qui veulent l'accompagnement.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Relationship Id="rId6" Type="http://schemas.openxmlformats.org/officeDocument/2006/relationships/image" Target="../media/image9.png"/><Relationship Id="rId7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Relationship Id="rId4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1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8.png"/><Relationship Id="rId4" Type="http://schemas.openxmlformats.org/officeDocument/2006/relationships/image" Target="../media/image28.png"/><Relationship Id="rId5" Type="http://schemas.openxmlformats.org/officeDocument/2006/relationships/notesSlide" Target="../notesSlides/notesSlide1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1.png"/><Relationship Id="rId5" Type="http://schemas.openxmlformats.org/officeDocument/2006/relationships/notesSlide" Target="../notesSlides/notesSlide1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18.png"/><Relationship Id="rId4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gradFill rotWithShape="1">
            <a:gsLst>
              <a:gs pos="0">
                <a:srgbClr val="0E1426"/>
              </a:gs>
              <a:gs pos="55000">
                <a:srgbClr val="0A0E1A"/>
              </a:gs>
              <a:gs pos="100000">
                <a:srgbClr val="070A12"/>
              </a:gs>
            </a:gsLst>
            <a:lin ang="66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040880" y="2011680"/>
            <a:ext cx="8595360" cy="8595360"/>
          </a:xfrm>
          <a:prstGeom prst="ellipse">
            <a:avLst/>
          </a:prstGeom>
          <a:gradFill rotWithShape="1">
            <a:gsLst>
              <a:gs pos="0">
                <a:srgbClr val="9B6DFF">
                  <a:alpha val="42000"/>
                </a:srgbClr>
              </a:gs>
              <a:gs pos="100000">
                <a:srgbClr val="9B6D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926080" y="-3017520"/>
            <a:ext cx="6583680" cy="6583680"/>
          </a:xfrm>
          <a:prstGeom prst="ellipse">
            <a:avLst/>
          </a:prstGeom>
          <a:gradFill rotWithShape="1">
            <a:gsLst>
              <a:gs pos="0">
                <a:srgbClr val="5B8DEF">
                  <a:alpha val="34000"/>
                </a:srgbClr>
              </a:gs>
              <a:gs pos="100000">
                <a:srgbClr val="5B8DE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498079" y="-1554480"/>
            <a:ext cx="4389120" cy="4389120"/>
          </a:xfrm>
          <a:prstGeom prst="ellipse">
            <a:avLst/>
          </a:prstGeom>
          <a:gradFill rotWithShape="1">
            <a:gsLst>
              <a:gs pos="0">
                <a:srgbClr val="31D7E6">
                  <a:alpha val="20000"/>
                </a:srgbClr>
              </a:gs>
              <a:gs pos="100000">
                <a:srgbClr val="31D7E6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41248" y="932688"/>
            <a:ext cx="2011680" cy="18288"/>
          </a:xfrm>
          <a:prstGeom prst="rect">
            <a:avLst/>
          </a:prstGeom>
          <a:gradFill rotWithShape="1">
            <a:gsLst>
              <a:gs pos="0">
                <a:srgbClr val="5B8DEF"/>
              </a:gs>
              <a:gs pos="100000">
                <a:srgbClr val="9B6D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41248" y="1120139"/>
            <a:ext cx="310896" cy="118872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5B8DEF"/>
              </a:gs>
              <a:gs pos="100000">
                <a:srgbClr val="9B6D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98448" y="1033271"/>
            <a:ext cx="10058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300">
                <a:gradFill rotWithShape="1">
                  <a:gsLst>
                    <a:gs pos="0">
                      <a:srgbClr val="5B8DEF"/>
                    </a:gs>
                    <a:gs pos="100000">
                      <a:srgbClr val="9B6DFF"/>
                    </a:gs>
                  </a:gsLst>
                  <a:lin ang="0" scaled="1"/>
                </a:gradFill>
                <a:latin typeface="Montserrat Bold"/>
              </a:rPr>
              <a:t>MASTERCLASS LIVE  ·  CRÉATION &amp; MONÉTISATION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1755648"/>
            <a:ext cx="1069848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0">
                <a:solidFill>
                  <a:srgbClr val="F4F7FF"/>
                </a:solidFill>
                <a:latin typeface="Montserrat Black"/>
              </a:rPr>
              <a:t>Créer du contenu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sz="5800" b="0">
                <a:solidFill>
                  <a:srgbClr val="F4F7FF"/>
                </a:solidFill>
                <a:latin typeface="Montserrat Black"/>
              </a:rPr>
              <a:t>&amp; monétiser </a:t>
            </a:r>
            <a:r>
              <a:rPr sz="5800" b="0">
                <a:gradFill rotWithShape="1">
                  <a:gsLst>
                    <a:gs pos="0">
                      <a:srgbClr val="5B8DEF"/>
                    </a:gs>
                    <a:gs pos="100000">
                      <a:srgbClr val="9B6DFF"/>
                    </a:gs>
                  </a:gsLst>
                  <a:lin ang="0" scaled="1"/>
                </a:gradFill>
                <a:latin typeface="Montserrat Black"/>
              </a:rPr>
              <a:t>Facebook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4041648"/>
            <a:ext cx="9509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>
                <a:solidFill>
                  <a:srgbClr val="AEB9D6"/>
                </a:solidFill>
                <a:latin typeface="Inter"/>
              </a:rPr>
              <a:t>La méthode claire, simple et adaptée à l'Afrique — même si tu pars de zéro, et même si ton pays n'est pas encore éligible.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" y="5029200"/>
            <a:ext cx="5852160" cy="1078992"/>
          </a:xfrm>
          <a:prstGeom prst="roundRect">
            <a:avLst>
              <a:gd name="adj" fmla="val 13559"/>
            </a:avLst>
          </a:prstGeom>
          <a:solidFill>
            <a:srgbClr val="151D33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78992" y="5248656"/>
            <a:ext cx="640080" cy="64008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5B8DEF"/>
              </a:gs>
              <a:gs pos="100000">
                <a:srgbClr val="9B6DFF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9B6DFF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5296" y="5394960"/>
            <a:ext cx="347471" cy="34747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920240" y="5175504"/>
            <a:ext cx="466344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50" b="0">
                <a:solidFill>
                  <a:srgbClr val="F4F7FF"/>
                </a:solidFill>
                <a:latin typeface="Montserrat Bold"/>
              </a:rPr>
              <a:t>Kevin Chris Atchof</a:t>
            </a:r>
          </a:p>
          <a:p>
            <a:pPr algn="l">
              <a:lnSpc>
                <a:spcPct val="112000"/>
              </a:lnSpc>
              <a:spcBef>
                <a:spcPts val="200"/>
              </a:spcBef>
            </a:pPr>
            <a:r>
              <a:rPr sz="1100" b="0">
                <a:solidFill>
                  <a:srgbClr val="AEB9D6"/>
                </a:solidFill>
                <a:latin typeface="Inter"/>
              </a:rPr>
              <a:t>Le créateur le plus suivi d'Afrique francophone sur la monétisation Facebook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07521" y="635508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0" spc="100">
                <a:solidFill>
                  <a:srgbClr val="7E8AAC"/>
                </a:solidFill>
                <a:latin typeface="Inter SemiBold"/>
              </a:rPr>
              <a:t>© Kevin Chris Digital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gradFill rotWithShape="1">
            <a:gsLst>
              <a:gs pos="0">
                <a:srgbClr val="0E1426"/>
              </a:gs>
              <a:gs pos="55000">
                <a:srgbClr val="0A0E1A"/>
              </a:gs>
              <a:gs pos="100000">
                <a:srgbClr val="070A12"/>
              </a:gs>
            </a:gsLst>
            <a:lin ang="66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3200400" y="-3200400"/>
            <a:ext cx="5852160" cy="5852160"/>
          </a:xfrm>
          <a:prstGeom prst="ellipse">
            <a:avLst/>
          </a:prstGeom>
          <a:gradFill rotWithShape="1">
            <a:gsLst>
              <a:gs pos="0">
                <a:srgbClr val="5B8DEF">
                  <a:alpha val="26000"/>
                </a:srgbClr>
              </a:gs>
              <a:gs pos="100000">
                <a:srgbClr val="5B8DE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778240" y="3657599"/>
            <a:ext cx="6583680" cy="6583680"/>
          </a:xfrm>
          <a:prstGeom prst="ellipse">
            <a:avLst/>
          </a:prstGeom>
          <a:gradFill rotWithShape="1">
            <a:gsLst>
              <a:gs pos="0">
                <a:srgbClr val="9B6DFF">
                  <a:alpha val="30000"/>
                </a:srgbClr>
              </a:gs>
              <a:gs pos="100000">
                <a:srgbClr val="9B6D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8" y="608076"/>
            <a:ext cx="310896" cy="118872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5B8DEF"/>
              </a:gs>
              <a:gs pos="100000">
                <a:srgbClr val="9B6D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98448" y="521207"/>
            <a:ext cx="7315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300">
                <a:gradFill rotWithShape="1">
                  <a:gsLst>
                    <a:gs pos="0">
                      <a:srgbClr val="5B8DEF"/>
                    </a:gs>
                    <a:gs pos="100000">
                      <a:srgbClr val="9B6DFF"/>
                    </a:gs>
                  </a:gsLst>
                  <a:lin ang="0" scaled="1"/>
                </a:gradFill>
                <a:latin typeface="Montserrat Bold"/>
              </a:rPr>
              <a:t>AU PROGRAMME AUJOURD'HUI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914400"/>
            <a:ext cx="10509473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0">
                <a:solidFill>
                  <a:srgbClr val="F4F7FF"/>
                </a:solidFill>
                <a:latin typeface="Montserrat ExtraBold"/>
              </a:rPr>
              <a:t>6 étapes pour passer de zéro aux revenus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1517904"/>
            <a:ext cx="1050947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>
                <a:solidFill>
                  <a:srgbClr val="7E8AAC"/>
                </a:solidFill>
                <a:latin typeface="Inter"/>
              </a:rPr>
              <a:t>Environ 1h45 — pose tes questions à la fin de chaque partie.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157984"/>
            <a:ext cx="3283701" cy="1993392"/>
          </a:xfrm>
          <a:prstGeom prst="roundRect">
            <a:avLst>
              <a:gd name="adj" fmla="val 7339"/>
            </a:avLst>
          </a:prstGeom>
          <a:solidFill>
            <a:srgbClr val="151D33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61909" y="3072384"/>
            <a:ext cx="1325880" cy="96012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5200" b="0">
                <a:solidFill>
                  <a:srgbClr val="1E2A4A"/>
                </a:solidFill>
                <a:latin typeface="Montserrat Black"/>
              </a:rPr>
              <a:t>01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15568" y="2432303"/>
            <a:ext cx="603504" cy="603504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5B8DEF"/>
              </a:gs>
              <a:gs pos="100000">
                <a:srgbClr val="9B6DFF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9B6DFF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-2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2728" y="2569463"/>
            <a:ext cx="329184" cy="32918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115568" y="3182112"/>
            <a:ext cx="273506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>
                <a:solidFill>
                  <a:srgbClr val="F4F7FF"/>
                </a:solidFill>
                <a:latin typeface="Montserrat Bold"/>
              </a:rPr>
              <a:t>Comprendre Facebook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3639312"/>
            <a:ext cx="2735061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AEB9D6"/>
                </a:solidFill>
                <a:latin typeface="Inter"/>
              </a:rPr>
              <a:t>L'algorithme et ce que Meta veut vraiment de toi.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54133" y="2157984"/>
            <a:ext cx="3283701" cy="1993392"/>
          </a:xfrm>
          <a:prstGeom prst="roundRect">
            <a:avLst>
              <a:gd name="adj" fmla="val 7339"/>
            </a:avLst>
          </a:prstGeom>
          <a:solidFill>
            <a:srgbClr val="151D33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74795" y="3072384"/>
            <a:ext cx="1325880" cy="96012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5200" b="0">
                <a:solidFill>
                  <a:srgbClr val="1E2A4A"/>
                </a:solidFill>
                <a:latin typeface="Montserrat Black"/>
              </a:rPr>
              <a:t>02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28453" y="2432303"/>
            <a:ext cx="603504" cy="603504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5B8DEF"/>
              </a:gs>
              <a:gs pos="100000">
                <a:srgbClr val="9B6DFF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9B6DFF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image-2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5613" y="2569463"/>
            <a:ext cx="329184" cy="32918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728453" y="3182112"/>
            <a:ext cx="273506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>
                <a:solidFill>
                  <a:srgbClr val="F4F7FF"/>
                </a:solidFill>
                <a:latin typeface="Montserrat Bold"/>
              </a:rPr>
              <a:t>Créer du contenu qui performe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28453" y="3639312"/>
            <a:ext cx="2735061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AEB9D6"/>
                </a:solidFill>
                <a:latin typeface="Inter"/>
              </a:rPr>
              <a:t>Niche, formats, régularité, le HOOK qui décolle.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67019" y="2157984"/>
            <a:ext cx="3283701" cy="1993392"/>
          </a:xfrm>
          <a:prstGeom prst="roundRect">
            <a:avLst>
              <a:gd name="adj" fmla="val 7339"/>
            </a:avLst>
          </a:prstGeom>
          <a:solidFill>
            <a:srgbClr val="151D33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87681" y="3072384"/>
            <a:ext cx="1325880" cy="96012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5200" b="0">
                <a:solidFill>
                  <a:srgbClr val="1E2A4A"/>
                </a:solidFill>
                <a:latin typeface="Montserrat Black"/>
              </a:rPr>
              <a:t>03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341339" y="2432303"/>
            <a:ext cx="603504" cy="603504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6B43C"/>
              </a:gs>
              <a:gs pos="100000">
                <a:srgbClr val="FFD36E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FFD36E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mage-2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8499" y="2569463"/>
            <a:ext cx="329184" cy="32918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341339" y="3182112"/>
            <a:ext cx="273506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>
                <a:solidFill>
                  <a:srgbClr val="F4F7FF"/>
                </a:solidFill>
                <a:latin typeface="Montserrat Bold"/>
              </a:rPr>
              <a:t>Les programmes de monétisation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41339" y="3639312"/>
            <a:ext cx="2735061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AEB9D6"/>
                </a:solidFill>
                <a:latin typeface="Inter"/>
              </a:rPr>
              <a:t>Le CMP 2025 et les conditions d'éligibilité.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41248" y="4443983"/>
            <a:ext cx="3283701" cy="1993392"/>
          </a:xfrm>
          <a:prstGeom prst="roundRect">
            <a:avLst>
              <a:gd name="adj" fmla="val 7339"/>
            </a:avLst>
          </a:prstGeom>
          <a:solidFill>
            <a:srgbClr val="151D33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661909" y="5358383"/>
            <a:ext cx="1325880" cy="96012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5200" b="0">
                <a:solidFill>
                  <a:srgbClr val="1E2A4A"/>
                </a:solidFill>
                <a:latin typeface="Montserrat Black"/>
              </a:rPr>
              <a:t>04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115568" y="4718303"/>
            <a:ext cx="603504" cy="603504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31D7E6"/>
              </a:gs>
              <a:gs pos="100000">
                <a:srgbClr val="5B8DEF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5B8DEF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image-2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2728" y="4855464"/>
            <a:ext cx="329184" cy="329184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115568" y="5468112"/>
            <a:ext cx="273506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>
                <a:solidFill>
                  <a:srgbClr val="F4F7FF"/>
                </a:solidFill>
                <a:latin typeface="Montserrat Bold"/>
              </a:rPr>
              <a:t>Monétiser depuis un pays inéligible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" y="5925312"/>
            <a:ext cx="2735061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AEB9D6"/>
                </a:solidFill>
                <a:latin typeface="Inter"/>
              </a:rPr>
              <a:t>La stratégie de contournement 100% légale.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454133" y="4443983"/>
            <a:ext cx="3283701" cy="1993392"/>
          </a:xfrm>
          <a:prstGeom prst="roundRect">
            <a:avLst>
              <a:gd name="adj" fmla="val 7339"/>
            </a:avLst>
          </a:prstGeom>
          <a:solidFill>
            <a:srgbClr val="151D33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74795" y="5358383"/>
            <a:ext cx="1325880" cy="96012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5200" b="0">
                <a:solidFill>
                  <a:srgbClr val="1E2A4A"/>
                </a:solidFill>
                <a:latin typeface="Montserrat Black"/>
              </a:rPr>
              <a:t>05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728453" y="4718303"/>
            <a:ext cx="603504" cy="603504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B7185"/>
              </a:gs>
              <a:gs pos="100000">
                <a:srgbClr val="9B6DFF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9B6DFF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image-2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65613" y="4855464"/>
            <a:ext cx="329184" cy="329184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4728453" y="5468112"/>
            <a:ext cx="273506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>
                <a:solidFill>
                  <a:srgbClr val="F4F7FF"/>
                </a:solidFill>
                <a:latin typeface="Montserrat Bold"/>
              </a:rPr>
              <a:t>Gérer les restrictions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28453" y="5925312"/>
            <a:ext cx="2735061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AEB9D6"/>
                </a:solidFill>
                <a:latin typeface="Inter"/>
              </a:rPr>
              <a:t>Éviter les blocages et sécuriser ta page.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067019" y="4443983"/>
            <a:ext cx="3283701" cy="1993392"/>
          </a:xfrm>
          <a:prstGeom prst="roundRect">
            <a:avLst>
              <a:gd name="adj" fmla="val 7339"/>
            </a:avLst>
          </a:prstGeom>
          <a:solidFill>
            <a:srgbClr val="151D33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887681" y="5358383"/>
            <a:ext cx="1325880" cy="96012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5200" b="0">
                <a:solidFill>
                  <a:srgbClr val="1E2A4A"/>
                </a:solidFill>
                <a:latin typeface="Montserrat Black"/>
              </a:rPr>
              <a:t>06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341339" y="4718303"/>
            <a:ext cx="603504" cy="603504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3DDC97"/>
              </a:gs>
              <a:gs pos="100000">
                <a:srgbClr val="31D7E6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31D7E6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image-2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78499" y="4855464"/>
            <a:ext cx="329184" cy="329184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8341339" y="5468112"/>
            <a:ext cx="273506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>
                <a:solidFill>
                  <a:srgbClr val="F4F7FF"/>
                </a:solidFill>
                <a:latin typeface="Montserrat Bold"/>
              </a:rPr>
              <a:t>Diversifier tes revenus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41339" y="5925312"/>
            <a:ext cx="2735061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AEB9D6"/>
                </a:solidFill>
                <a:latin typeface="Inter"/>
              </a:rPr>
              <a:t>Vendre tes propres produits avec ta page.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124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220">
                <a:solidFill>
                  <a:srgbClr val="7E8AAC"/>
                </a:solidFill>
                <a:latin typeface="Inter SemiBold"/>
              </a:rPr>
              <a:t>KEVIN CHRIS DIGITAL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21921" y="643737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50">
                <a:solidFill>
                  <a:srgbClr val="7E8AAC"/>
                </a:solidFill>
                <a:latin typeface="Inter SemiBold"/>
              </a:rPr>
              <a:t>02 / 20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41248" y="6364224"/>
            <a:ext cx="10509473" cy="10972"/>
          </a:xfrm>
          <a:prstGeom prst="rect">
            <a:avLst/>
          </a:prstGeom>
          <a:solidFill>
            <a:srgbClr val="263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gradFill rotWithShape="1">
            <a:gsLst>
              <a:gs pos="0">
                <a:srgbClr val="0E1426"/>
              </a:gs>
              <a:gs pos="55000">
                <a:srgbClr val="0A0E1A"/>
              </a:gs>
              <a:gs pos="100000">
                <a:srgbClr val="070A12"/>
              </a:gs>
            </a:gsLst>
            <a:lin ang="66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3657600"/>
            <a:ext cx="6583680" cy="6583680"/>
          </a:xfrm>
          <a:prstGeom prst="ellipse">
            <a:avLst/>
          </a:prstGeom>
          <a:gradFill rotWithShape="1">
            <a:gsLst>
              <a:gs pos="0">
                <a:srgbClr val="9B6DFF">
                  <a:alpha val="30000"/>
                </a:srgbClr>
              </a:gs>
              <a:gs pos="100000">
                <a:srgbClr val="9B6D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3108960" y="4114800"/>
            <a:ext cx="5852160" cy="5852160"/>
          </a:xfrm>
          <a:prstGeom prst="ellipse">
            <a:avLst/>
          </a:prstGeom>
          <a:gradFill rotWithShape="1">
            <a:gsLst>
              <a:gs pos="0">
                <a:srgbClr val="5B8DEF">
                  <a:alpha val="24000"/>
                </a:srgbClr>
              </a:gs>
              <a:gs pos="100000">
                <a:srgbClr val="5B8DE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8" y="608076"/>
            <a:ext cx="310896" cy="118872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5B8DEF"/>
              </a:gs>
              <a:gs pos="100000">
                <a:srgbClr val="9B6D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98448" y="521207"/>
            <a:ext cx="7315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300">
                <a:gradFill rotWithShape="1">
                  <a:gsLst>
                    <a:gs pos="0">
                      <a:srgbClr val="5B8DEF"/>
                    </a:gs>
                    <a:gs pos="100000">
                      <a:srgbClr val="9B6DFF"/>
                    </a:gs>
                  </a:gsLst>
                  <a:lin ang="0" scaled="1"/>
                </a:gradFill>
                <a:latin typeface="Montserrat Bold"/>
              </a:rPr>
              <a:t>MON HISTOIRE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914400"/>
            <a:ext cx="1050947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>
                <a:solidFill>
                  <a:srgbClr val="F4F7FF"/>
                </a:solidFill>
                <a:latin typeface="Montserrat ExtraBold"/>
              </a:rPr>
              <a:t>J'ai vécu exactement ce que tu 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" y="1783080"/>
            <a:ext cx="5071856" cy="1993392"/>
          </a:xfrm>
          <a:prstGeom prst="roundRect">
            <a:avLst>
              <a:gd name="adj" fmla="val 7339"/>
            </a:avLst>
          </a:prstGeom>
          <a:solidFill>
            <a:srgbClr val="151D33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115568" y="2075688"/>
            <a:ext cx="566928" cy="566928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5B8DEF"/>
              </a:gs>
              <a:gs pos="100000">
                <a:srgbClr val="9B6DFF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9B6DFF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age-3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3584" y="2203704"/>
            <a:ext cx="310896" cy="310896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792224" y="2148840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1E2A4A"/>
          </a:solidFill>
          <a:ln w="12700">
            <a:solidFill>
              <a:srgbClr val="3A4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92224" y="2148840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0" spc="50">
                <a:gradFill rotWithShape="1">
                  <a:gsLst>
                    <a:gs pos="0">
                      <a:srgbClr val="5B8DEF"/>
                    </a:gs>
                    <a:gs pos="100000">
                      <a:srgbClr val="9B6DFF"/>
                    </a:gs>
                  </a:gsLst>
                  <a:lin ang="0" scaled="1"/>
                </a:gradFill>
                <a:latin typeface="Inter SemiBold"/>
              </a:rPr>
              <a:t>2023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2807208"/>
            <a:ext cx="452321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F4F7FF"/>
                </a:solidFill>
                <a:latin typeface="Montserrat Bold"/>
              </a:rPr>
              <a:t>Le décollage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3246120"/>
            <a:ext cx="452321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AEB9D6"/>
                </a:solidFill>
                <a:latin typeface="Inter"/>
              </a:rPr>
              <a:t>Deux vidéos (clonage WhatsApp + LuzIA) propulsent ma page de 2 000 à plus de 12 000 abonnés. Des millions de vues.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78864" y="1783080"/>
            <a:ext cx="5071856" cy="1993392"/>
          </a:xfrm>
          <a:prstGeom prst="roundRect">
            <a:avLst>
              <a:gd name="adj" fmla="val 7339"/>
            </a:avLst>
          </a:prstGeom>
          <a:solidFill>
            <a:srgbClr val="151D33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553184" y="2075688"/>
            <a:ext cx="566928" cy="566928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B7185"/>
              </a:gs>
              <a:gs pos="100000">
                <a:srgbClr val="9B6DFF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9B6DFF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image-3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1200" y="2203704"/>
            <a:ext cx="310896" cy="310896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7229840" y="2148840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1E2A4A"/>
          </a:solidFill>
          <a:ln w="12700">
            <a:solidFill>
              <a:srgbClr val="3A4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29840" y="2148840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0" spc="50">
                <a:gradFill rotWithShape="1">
                  <a:gsLst>
                    <a:gs pos="0">
                      <a:srgbClr val="FB7185"/>
                    </a:gs>
                    <a:gs pos="100000">
                      <a:srgbClr val="9B6DFF"/>
                    </a:gs>
                  </a:gsLst>
                  <a:lin ang="0" scaled="1"/>
                </a:gradFill>
                <a:latin typeface="Inter SemiBold"/>
              </a:rPr>
              <a:t>L'ERREUR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184" y="2807208"/>
            <a:ext cx="452321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F4F7FF"/>
                </a:solidFill>
                <a:latin typeface="Montserrat Bold"/>
              </a:rPr>
              <a:t>L'erreur fatale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53184" y="3246120"/>
            <a:ext cx="452321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AEB9D6"/>
                </a:solidFill>
                <a:latin typeface="Inter"/>
              </a:rPr>
              <a:t>Depuis le Cameroun (pays inéligible), je configure ma monétisation avec mes vraies infos. Ma page est bloquée.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1248" y="4087368"/>
            <a:ext cx="5071856" cy="1993392"/>
          </a:xfrm>
          <a:prstGeom prst="roundRect">
            <a:avLst>
              <a:gd name="adj" fmla="val 7339"/>
            </a:avLst>
          </a:prstGeom>
          <a:solidFill>
            <a:srgbClr val="151D33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15568" y="4379976"/>
            <a:ext cx="566928" cy="566928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6B43C"/>
              </a:gs>
              <a:gs pos="100000">
                <a:srgbClr val="FFD36E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FFD36E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mage-3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3584" y="4507992"/>
            <a:ext cx="310896" cy="310896"/>
          </a:xfrm>
          <a:prstGeom prst="rect">
            <a:avLst/>
          </a:prstGeom>
        </p:spPr>
      </p:pic>
      <p:sp>
        <p:nvSpPr>
          <p:cNvPr id="25" name="Rounded Rectangle 24"/>
          <p:cNvSpPr/>
          <p:nvPr/>
        </p:nvSpPr>
        <p:spPr>
          <a:xfrm>
            <a:off x="1792224" y="4453128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1E2A4A"/>
          </a:solidFill>
          <a:ln w="12700">
            <a:solidFill>
              <a:srgbClr val="3A4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792224" y="4453128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0" spc="50">
                <a:gradFill rotWithShape="1">
                  <a:gsLst>
                    <a:gs pos="0">
                      <a:srgbClr val="F6B43C"/>
                    </a:gs>
                    <a:gs pos="100000">
                      <a:srgbClr val="FFD36E"/>
                    </a:gs>
                  </a:gsLst>
                  <a:lin ang="0" scaled="1"/>
                </a:gradFill>
                <a:latin typeface="Inter SemiBold"/>
              </a:rPr>
              <a:t>LE DÉSERT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" y="5111496"/>
            <a:ext cx="452321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F4F7FF"/>
                </a:solidFill>
                <a:latin typeface="Montserrat Bold"/>
              </a:rPr>
              <a:t>La traversée du désert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" y="5550408"/>
            <a:ext cx="452321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AEB9D6"/>
                </a:solidFill>
                <a:latin typeface="Inter"/>
              </a:rPr>
              <a:t>« Tu as gâté ta page », me disaient les experts. J'ai cherché, je me suis formé, j'ai parlé à l'équipe Meta.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78864" y="4087368"/>
            <a:ext cx="5071856" cy="1993392"/>
          </a:xfrm>
          <a:prstGeom prst="roundRect">
            <a:avLst>
              <a:gd name="adj" fmla="val 7339"/>
            </a:avLst>
          </a:prstGeom>
          <a:solidFill>
            <a:srgbClr val="151D33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553184" y="4379976"/>
            <a:ext cx="566928" cy="566928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3DDC97"/>
              </a:gs>
              <a:gs pos="100000">
                <a:srgbClr val="31D7E6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31D7E6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image-3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1200" y="4507992"/>
            <a:ext cx="310896" cy="310896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7229840" y="4453128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1E2A4A"/>
          </a:solidFill>
          <a:ln w="12700">
            <a:solidFill>
              <a:srgbClr val="3A4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29840" y="4453128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0" spc="50">
                <a:gradFill rotWithShape="1">
                  <a:gsLst>
                    <a:gs pos="0">
                      <a:srgbClr val="3DDC97"/>
                    </a:gs>
                    <a:gs pos="100000">
                      <a:srgbClr val="31D7E6"/>
                    </a:gs>
                  </a:gsLst>
                  <a:lin ang="0" scaled="1"/>
                </a:gradFill>
                <a:latin typeface="Inter SemiBold"/>
              </a:rPr>
              <a:t>MAI 2024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53184" y="5111496"/>
            <a:ext cx="452321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F4F7FF"/>
                </a:solidFill>
                <a:latin typeface="Montserrat Bold"/>
              </a:rPr>
              <a:t>La renaissance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53184" y="5550408"/>
            <a:ext cx="452321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AEB9D6"/>
                </a:solidFill>
                <a:latin typeface="Inter"/>
              </a:rPr>
              <a:t>Je résous le problème que personne ne savait régler. Aujourd'hui, j'aide des créateurs à débloquer leurs pages.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220">
                <a:solidFill>
                  <a:srgbClr val="7E8AAC"/>
                </a:solidFill>
                <a:latin typeface="Inter SemiBold"/>
              </a:rPr>
              <a:t>KEVIN CHRIS DIGITAL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21921" y="643737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50">
                <a:solidFill>
                  <a:srgbClr val="7E8AAC"/>
                </a:solidFill>
                <a:latin typeface="Inter SemiBold"/>
              </a:rPr>
              <a:t>03 / 20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41248" y="6364224"/>
            <a:ext cx="10509473" cy="10972"/>
          </a:xfrm>
          <a:prstGeom prst="rect">
            <a:avLst/>
          </a:prstGeom>
          <a:solidFill>
            <a:srgbClr val="263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gradFill rotWithShape="1">
            <a:gsLst>
              <a:gs pos="0">
                <a:srgbClr val="0E1426"/>
              </a:gs>
              <a:gs pos="55000">
                <a:srgbClr val="0A0E1A"/>
              </a:gs>
              <a:gs pos="100000">
                <a:srgbClr val="070A12"/>
              </a:gs>
            </a:gsLst>
            <a:lin ang="66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766560" y="-594360"/>
            <a:ext cx="8046720" cy="8046720"/>
          </a:xfrm>
          <a:prstGeom prst="ellipse">
            <a:avLst/>
          </a:prstGeom>
          <a:gradFill rotWithShape="1">
            <a:gsLst>
              <a:gs pos="0">
                <a:srgbClr val="5B8DEF">
                  <a:alpha val="40000"/>
                </a:srgbClr>
              </a:gs>
              <a:gs pos="100000">
                <a:srgbClr val="5B8DE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743200" y="3840480"/>
            <a:ext cx="5852160" cy="5852160"/>
          </a:xfrm>
          <a:prstGeom prst="ellipse">
            <a:avLst/>
          </a:prstGeom>
          <a:gradFill rotWithShape="1">
            <a:gsLst>
              <a:gs pos="0">
                <a:srgbClr val="5B8DEF">
                  <a:alpha val="24000"/>
                </a:srgbClr>
              </a:gs>
              <a:gs pos="100000">
                <a:srgbClr val="5B8DE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914400" y="-1645920"/>
            <a:ext cx="3657600" cy="3657600"/>
          </a:xfrm>
          <a:prstGeom prst="ellipse">
            <a:avLst/>
          </a:prstGeom>
          <a:gradFill rotWithShape="1">
            <a:gsLst>
              <a:gs pos="0">
                <a:srgbClr val="9B6DFF">
                  <a:alpha val="16000"/>
                </a:srgbClr>
              </a:gs>
              <a:gs pos="100000">
                <a:srgbClr val="9B6D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0" y="-457200"/>
            <a:ext cx="6400800" cy="7315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34000" b="0">
                <a:solidFill>
                  <a:srgbClr val="111A30"/>
                </a:solidFill>
                <a:latin typeface="Montserrat Black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2395728"/>
            <a:ext cx="1828800" cy="18288"/>
          </a:xfrm>
          <a:prstGeom prst="rect">
            <a:avLst/>
          </a:prstGeom>
          <a:gradFill rotWithShape="1">
            <a:gsLst>
              <a:gs pos="0">
                <a:srgbClr val="5B8DEF"/>
              </a:gs>
              <a:gs pos="100000">
                <a:srgbClr val="9B6D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41248" y="2583179"/>
            <a:ext cx="310896" cy="118872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5B8DEF"/>
              </a:gs>
              <a:gs pos="100000">
                <a:srgbClr val="9B6D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98448" y="2496312"/>
            <a:ext cx="7315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300">
                <a:gradFill rotWithShape="1">
                  <a:gsLst>
                    <a:gs pos="0">
                      <a:srgbClr val="5B8DEF"/>
                    </a:gs>
                    <a:gs pos="100000">
                      <a:srgbClr val="9B6DFF"/>
                    </a:gs>
                  </a:gsLst>
                  <a:lin ang="0" scaled="1"/>
                </a:gradFill>
                <a:latin typeface="Montserrat Bold"/>
              </a:rPr>
              <a:t>PARTIE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2971800"/>
            <a:ext cx="87782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4600" b="0">
                <a:solidFill>
                  <a:srgbClr val="F4F7FF"/>
                </a:solidFill>
                <a:latin typeface="Montserrat Black"/>
              </a:rPr>
              <a:t>Comprendre Facebook avant de monétiser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4736592"/>
            <a:ext cx="8046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600" b="0">
                <a:solidFill>
                  <a:srgbClr val="AEB9D6"/>
                </a:solidFill>
                <a:latin typeface="Inter"/>
              </a:rPr>
              <a:t>Tu ne peux pas gagner à un jeu dont tu ignores les règles.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104120" y="2697480"/>
            <a:ext cx="1417320" cy="141732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5B8DEF"/>
              </a:gs>
              <a:gs pos="100000">
                <a:srgbClr val="9B6DFF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9B6DFF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mage-2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88168" y="3081528"/>
            <a:ext cx="649224" cy="64922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4124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220">
                <a:solidFill>
                  <a:srgbClr val="7E8AAC"/>
                </a:solidFill>
                <a:latin typeface="Inter SemiBold"/>
              </a:rPr>
              <a:t>KEVIN CHRIS DIGITAL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gradFill rotWithShape="1">
            <a:gsLst>
              <a:gs pos="0">
                <a:srgbClr val="0E1426"/>
              </a:gs>
              <a:gs pos="55000">
                <a:srgbClr val="0A0E1A"/>
              </a:gs>
              <a:gs pos="100000">
                <a:srgbClr val="070A12"/>
              </a:gs>
            </a:gsLst>
            <a:lin ang="66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926080" y="-2743200"/>
            <a:ext cx="5486400" cy="5486400"/>
          </a:xfrm>
          <a:prstGeom prst="ellipse">
            <a:avLst/>
          </a:prstGeom>
          <a:gradFill rotWithShape="1">
            <a:gsLst>
              <a:gs pos="0">
                <a:srgbClr val="5B8DEF">
                  <a:alpha val="26000"/>
                </a:srgbClr>
              </a:gs>
              <a:gs pos="100000">
                <a:srgbClr val="5B8DE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778240" y="3657599"/>
            <a:ext cx="6583680" cy="6583680"/>
          </a:xfrm>
          <a:prstGeom prst="ellipse">
            <a:avLst/>
          </a:prstGeom>
          <a:gradFill rotWithShape="1">
            <a:gsLst>
              <a:gs pos="0">
                <a:srgbClr val="9B6DFF">
                  <a:alpha val="28000"/>
                </a:srgbClr>
              </a:gs>
              <a:gs pos="100000">
                <a:srgbClr val="9B6D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8" y="544068"/>
            <a:ext cx="310896" cy="118872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5B8DEF"/>
              </a:gs>
              <a:gs pos="100000">
                <a:srgbClr val="9B6D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98448" y="457200"/>
            <a:ext cx="7315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300">
                <a:gradFill rotWithShape="1">
                  <a:gsLst>
                    <a:gs pos="0">
                      <a:srgbClr val="5B8DEF"/>
                    </a:gs>
                    <a:gs pos="100000">
                      <a:srgbClr val="9B6DFF"/>
                    </a:gs>
                  </a:gsLst>
                  <a:lin ang="0" scaled="1"/>
                </a:gradFill>
                <a:latin typeface="Montserrat Bold"/>
              </a:rPr>
              <a:t>PARTIE 1 · COMPRENDRE FACEBOOK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859536"/>
            <a:ext cx="10509473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0">
                <a:solidFill>
                  <a:srgbClr val="F4F7FF"/>
                </a:solidFill>
                <a:latin typeface="Montserrat ExtraBold"/>
              </a:rPr>
              <a:t>L'algorithme, c'est ton patron exigeant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1463040"/>
            <a:ext cx="1050947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>
                <a:solidFill>
                  <a:srgbClr val="7E8AAC"/>
                </a:solidFill>
                <a:latin typeface="Inter"/>
              </a:rPr>
              <a:t>Il ne paie pas celui qui travaille dur, mais celui qui attire l'attention — et respecte le règlement.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194560"/>
            <a:ext cx="5074920" cy="3703320"/>
          </a:xfrm>
          <a:prstGeom prst="roundRect">
            <a:avLst>
              <a:gd name="adj" fmla="val 3950"/>
            </a:avLst>
          </a:prstGeom>
          <a:solidFill>
            <a:srgbClr val="1A2440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152144" y="2523744"/>
            <a:ext cx="676656" cy="676656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5B8DEF"/>
              </a:gs>
              <a:gs pos="100000">
                <a:srgbClr val="9B6DFF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9B6DFF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-5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7592" y="2679191"/>
            <a:ext cx="365759" cy="36575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993392" y="2651760"/>
            <a:ext cx="3703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4F7FF"/>
                </a:solidFill>
                <a:latin typeface="Montserrat Bold"/>
              </a:rPr>
              <a:t>Le petit test de visibilité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52144" y="3584448"/>
            <a:ext cx="274320" cy="27432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5B8DEF"/>
              </a:gs>
              <a:gs pos="100000">
                <a:srgbClr val="9B6D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27632" y="3511296"/>
            <a:ext cx="397763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>
                <a:solidFill>
                  <a:srgbClr val="AEB9D6"/>
                </a:solidFill>
                <a:latin typeface="Inter Medium"/>
              </a:rPr>
              <a:t>Facebook ne montre d'abord ton contenu qu'à 1–2 % de tes abonnés.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52144" y="4361688"/>
            <a:ext cx="274320" cy="27432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DDC97"/>
              </a:gs>
              <a:gs pos="100000">
                <a:srgbClr val="31D7E6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27632" y="4288536"/>
            <a:ext cx="397763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>
                <a:solidFill>
                  <a:srgbClr val="AEB9D6"/>
                </a:solidFill>
                <a:latin typeface="Inter Medium"/>
              </a:rPr>
              <a:t>S'ils réagissent vite (likes, commentaires, partages, temps de visionnage) → ton contenu décolle.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52144" y="5138927"/>
            <a:ext cx="274320" cy="27432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B7185"/>
              </a:gs>
              <a:gs pos="100000">
                <a:srgbClr val="9B6D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27632" y="5065776"/>
            <a:ext cx="397763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>
                <a:solidFill>
                  <a:srgbClr val="AEB9D6"/>
                </a:solidFill>
                <a:latin typeface="Inter Medium"/>
              </a:rPr>
              <a:t>Sinon → l'algorithme l'enterre, et personne d'autre ne le verra.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81928" y="2194560"/>
            <a:ext cx="5068793" cy="1133856"/>
          </a:xfrm>
          <a:prstGeom prst="roundRect">
            <a:avLst>
              <a:gd name="adj" fmla="val 12903"/>
            </a:avLst>
          </a:prstGeom>
          <a:solidFill>
            <a:srgbClr val="151D33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556248" y="2468879"/>
            <a:ext cx="566928" cy="566928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6B43C"/>
              </a:gs>
              <a:gs pos="100000">
                <a:srgbClr val="FFD36E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FFD36E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image-5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2596896"/>
            <a:ext cx="310896" cy="31089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251192" y="2432304"/>
            <a:ext cx="388007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4F7FF"/>
                </a:solidFill>
                <a:latin typeface="Montserrat Bold"/>
              </a:rPr>
              <a:t>Engagement immédiat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51192" y="2798064"/>
            <a:ext cx="386178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80" b="0">
                <a:solidFill>
                  <a:srgbClr val="AEB9D6"/>
                </a:solidFill>
                <a:latin typeface="Inter"/>
              </a:rPr>
              <a:t>Les réactions dans la 1re heure décident de tout. D'où l'importance du HOOK : tes 3 premières secondes.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81928" y="3474720"/>
            <a:ext cx="5068793" cy="1133856"/>
          </a:xfrm>
          <a:prstGeom prst="roundRect">
            <a:avLst>
              <a:gd name="adj" fmla="val 12903"/>
            </a:avLst>
          </a:prstGeom>
          <a:solidFill>
            <a:srgbClr val="151D33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556248" y="3749039"/>
            <a:ext cx="566928" cy="566928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31D7E6"/>
              </a:gs>
              <a:gs pos="100000">
                <a:srgbClr val="5B8DEF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5B8DEF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-5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3877055"/>
            <a:ext cx="310896" cy="310896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251192" y="3712463"/>
            <a:ext cx="388007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4F7FF"/>
                </a:solidFill>
                <a:latin typeface="Montserrat Bold"/>
              </a:rPr>
              <a:t>Temps passé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51192" y="4078224"/>
            <a:ext cx="386178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80" b="0">
                <a:solidFill>
                  <a:srgbClr val="AEB9D6"/>
                </a:solidFill>
                <a:latin typeface="Inter"/>
              </a:rPr>
              <a:t>Une vidéo regardée jusqu'au bout vaut plus que 5 likes rapides. Te liker toi-même ne sert à rien.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81928" y="4754879"/>
            <a:ext cx="5068793" cy="1133856"/>
          </a:xfrm>
          <a:prstGeom prst="roundRect">
            <a:avLst>
              <a:gd name="adj" fmla="val 12903"/>
            </a:avLst>
          </a:prstGeom>
          <a:solidFill>
            <a:srgbClr val="151D33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556248" y="5029199"/>
            <a:ext cx="566928" cy="566928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3DDC97"/>
              </a:gs>
              <a:gs pos="100000">
                <a:srgbClr val="31D7E6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31D7E6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image-5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4264" y="5157215"/>
            <a:ext cx="310896" cy="310896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251192" y="4992623"/>
            <a:ext cx="388007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4F7FF"/>
                </a:solidFill>
                <a:latin typeface="Montserrat Bold"/>
              </a:rPr>
              <a:t>Régularité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51192" y="5358383"/>
            <a:ext cx="386178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80" b="0">
                <a:solidFill>
                  <a:srgbClr val="AEB9D6"/>
                </a:solidFill>
                <a:latin typeface="Inter"/>
              </a:rPr>
              <a:t>Quand tu disparais, l'algorithme t'oublie. Il récompense ceux qui nourrissent leur audience souvent.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220">
                <a:solidFill>
                  <a:srgbClr val="7E8AAC"/>
                </a:solidFill>
                <a:latin typeface="Inter SemiBold"/>
              </a:rPr>
              <a:t>KEVIN CHRIS DIGITAL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21921" y="643737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50">
                <a:solidFill>
                  <a:srgbClr val="7E8AAC"/>
                </a:solidFill>
                <a:latin typeface="Inter SemiBold"/>
              </a:rPr>
              <a:t>05 / 20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41248" y="6364224"/>
            <a:ext cx="10509473" cy="10972"/>
          </a:xfrm>
          <a:prstGeom prst="rect">
            <a:avLst/>
          </a:prstGeom>
          <a:solidFill>
            <a:srgbClr val="263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gradFill rotWithShape="1">
            <a:gsLst>
              <a:gs pos="0">
                <a:srgbClr val="0E1426"/>
              </a:gs>
              <a:gs pos="55000">
                <a:srgbClr val="0A0E1A"/>
              </a:gs>
              <a:gs pos="100000">
                <a:srgbClr val="070A12"/>
              </a:gs>
            </a:gsLst>
            <a:lin ang="66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61120" y="-3108960"/>
            <a:ext cx="5852160" cy="5852160"/>
          </a:xfrm>
          <a:prstGeom prst="ellipse">
            <a:avLst/>
          </a:prstGeom>
          <a:gradFill rotWithShape="1">
            <a:gsLst>
              <a:gs pos="0">
                <a:srgbClr val="5B8DEF">
                  <a:alpha val="26000"/>
                </a:srgbClr>
              </a:gs>
              <a:gs pos="100000">
                <a:srgbClr val="5B8DE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3108960" y="3840479"/>
            <a:ext cx="6217920" cy="6217920"/>
          </a:xfrm>
          <a:prstGeom prst="ellipse">
            <a:avLst/>
          </a:prstGeom>
          <a:gradFill rotWithShape="1">
            <a:gsLst>
              <a:gs pos="0">
                <a:srgbClr val="9B6DFF">
                  <a:alpha val="26000"/>
                </a:srgbClr>
              </a:gs>
              <a:gs pos="100000">
                <a:srgbClr val="9B6D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8" y="544068"/>
            <a:ext cx="310896" cy="118872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5B8DEF"/>
              </a:gs>
              <a:gs pos="100000">
                <a:srgbClr val="9B6D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98448" y="457200"/>
            <a:ext cx="7315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300">
                <a:gradFill rotWithShape="1">
                  <a:gsLst>
                    <a:gs pos="0">
                      <a:srgbClr val="5B8DEF"/>
                    </a:gs>
                    <a:gs pos="100000">
                      <a:srgbClr val="9B6DFF"/>
                    </a:gs>
                  </a:gsLst>
                  <a:lin ang="0" scaled="1"/>
                </a:gradFill>
                <a:latin typeface="Montserrat Bold"/>
              </a:rPr>
              <a:t>PARTIE 1 · COMPRENDRE FACEBOOK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859536"/>
            <a:ext cx="10509473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>
                <a:solidFill>
                  <a:srgbClr val="F4F7FF"/>
                </a:solidFill>
                <a:latin typeface="Montserrat ExtraBold"/>
              </a:rPr>
              <a:t>L'écosystème Meta : chaque app a un rôle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1426464"/>
            <a:ext cx="1050947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7E8AAC"/>
                </a:solidFill>
                <a:latin typeface="Inter"/>
              </a:rPr>
              <a:t>Meta n'a pas créé ses apps pour te divertir, mais pour capter et garder ton audience. Avance progressivement.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084831"/>
            <a:ext cx="3295893" cy="1938528"/>
          </a:xfrm>
          <a:prstGeom prst="roundRect">
            <a:avLst>
              <a:gd name="adj" fmla="val 7547"/>
            </a:avLst>
          </a:prstGeom>
          <a:solidFill>
            <a:srgbClr val="151D33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115568" y="2359151"/>
            <a:ext cx="585216" cy="585216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5B8DEF"/>
              </a:gs>
              <a:gs pos="100000">
                <a:srgbClr val="9B6DFF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9B6DFF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-6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2728" y="2496311"/>
            <a:ext cx="310896" cy="3108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28800" y="2468879"/>
            <a:ext cx="2107173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F4F7FF"/>
                </a:solidFill>
                <a:latin typeface="Montserrat Bold"/>
              </a:rPr>
              <a:t>Facebook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3163824"/>
            <a:ext cx="2747253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AEB9D6"/>
                </a:solidFill>
                <a:latin typeface="Inter"/>
              </a:rPr>
              <a:t>Ton point de départ. 80 % de mes efforts. Le réseau N°1 de la monétisation chez Meta.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48037" y="2084831"/>
            <a:ext cx="3295893" cy="1938528"/>
          </a:xfrm>
          <a:prstGeom prst="roundRect">
            <a:avLst>
              <a:gd name="adj" fmla="val 7547"/>
            </a:avLst>
          </a:prstGeom>
          <a:solidFill>
            <a:srgbClr val="151D33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722357" y="2359151"/>
            <a:ext cx="585216" cy="585216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B7185"/>
              </a:gs>
              <a:gs pos="100000">
                <a:srgbClr val="9B6DFF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9B6DFF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mage-6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9517" y="2496311"/>
            <a:ext cx="310896" cy="31089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435589" y="2468879"/>
            <a:ext cx="2107173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F4F7FF"/>
                </a:solidFill>
                <a:latin typeface="Montserrat Bold"/>
              </a:rPr>
              <a:t>Instagram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22357" y="3163824"/>
            <a:ext cx="2747253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AEB9D6"/>
                </a:solidFill>
                <a:latin typeface="Inter"/>
              </a:rPr>
              <a:t>La vitrine visuelle. Les Reels circulent entre les deux — mais une restriction sur l'un affecte l'autre.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54827" y="2084831"/>
            <a:ext cx="3295893" cy="1938528"/>
          </a:xfrm>
          <a:prstGeom prst="roundRect">
            <a:avLst>
              <a:gd name="adj" fmla="val 7547"/>
            </a:avLst>
          </a:prstGeom>
          <a:solidFill>
            <a:srgbClr val="151D33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329147" y="2359151"/>
            <a:ext cx="585216" cy="585216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3DDC97"/>
              </a:gs>
              <a:gs pos="100000">
                <a:srgbClr val="31D7E6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31D7E6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image-6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66307" y="2496311"/>
            <a:ext cx="310896" cy="31089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042379" y="2468879"/>
            <a:ext cx="2107173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F4F7FF"/>
                </a:solidFill>
                <a:latin typeface="Montserrat Bold"/>
              </a:rPr>
              <a:t>WhatsApp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9147" y="3163824"/>
            <a:ext cx="2747253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AEB9D6"/>
                </a:solidFill>
                <a:latin typeface="Inter"/>
              </a:rPr>
              <a:t>Là où tu transformes les likes en argent : la conversation privée qui convertit en client.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1248" y="4297679"/>
            <a:ext cx="3295893" cy="1938528"/>
          </a:xfrm>
          <a:prstGeom prst="roundRect">
            <a:avLst>
              <a:gd name="adj" fmla="val 7547"/>
            </a:avLst>
          </a:prstGeom>
          <a:solidFill>
            <a:srgbClr val="151D33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115568" y="4571999"/>
            <a:ext cx="585216" cy="585216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31D7E6"/>
              </a:gs>
              <a:gs pos="100000">
                <a:srgbClr val="5B8DEF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5B8DEF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-6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2728" y="4709159"/>
            <a:ext cx="310896" cy="310896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828800" y="4681727"/>
            <a:ext cx="2107173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F4F7FF"/>
                </a:solidFill>
                <a:latin typeface="Montserrat Bold"/>
              </a:rPr>
              <a:t>Messenger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" y="5376671"/>
            <a:ext cx="2747253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AEB9D6"/>
                </a:solidFill>
                <a:latin typeface="Inter"/>
              </a:rPr>
              <a:t>Ton assistant automatisé : chatbots et réponses auto (ex. ManyChat) pour répondre à 100 personnes à la fois.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48037" y="4297679"/>
            <a:ext cx="3295893" cy="1938528"/>
          </a:xfrm>
          <a:prstGeom prst="roundRect">
            <a:avLst>
              <a:gd name="adj" fmla="val 7547"/>
            </a:avLst>
          </a:prstGeom>
          <a:solidFill>
            <a:srgbClr val="151D33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722357" y="4571999"/>
            <a:ext cx="585216" cy="585216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5B8DEF"/>
              </a:gs>
              <a:gs pos="100000">
                <a:srgbClr val="9B6DFF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9B6DFF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image-6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59517" y="4709159"/>
            <a:ext cx="310896" cy="310896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5435589" y="4681727"/>
            <a:ext cx="2107173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F4F7FF"/>
                </a:solidFill>
                <a:latin typeface="Montserrat Bold"/>
              </a:rPr>
              <a:t>Business Suite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22357" y="5376671"/>
            <a:ext cx="2747253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AEB9D6"/>
                </a:solidFill>
                <a:latin typeface="Inter"/>
              </a:rPr>
              <a:t>Ton centre de contrôle : planifier, analyser, configurer la monétisation, résoudre les restrictions.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54827" y="4297679"/>
            <a:ext cx="3295893" cy="1938528"/>
          </a:xfrm>
          <a:prstGeom prst="roundRect">
            <a:avLst>
              <a:gd name="adj" fmla="val 7547"/>
            </a:avLst>
          </a:prstGeom>
          <a:solidFill>
            <a:srgbClr val="151D33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329147" y="4571999"/>
            <a:ext cx="585216" cy="585216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6B43C"/>
              </a:gs>
              <a:gs pos="100000">
                <a:srgbClr val="FFD36E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FFD36E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image-6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66307" y="4709159"/>
            <a:ext cx="310896" cy="310896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9042379" y="4681727"/>
            <a:ext cx="2107173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F4F7FF"/>
                </a:solidFill>
                <a:latin typeface="Montserrat Bold"/>
              </a:rPr>
              <a:t>Meta Ads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9147" y="5376671"/>
            <a:ext cx="2747253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AEB9D6"/>
                </a:solidFill>
                <a:latin typeface="Inter"/>
              </a:rPr>
              <a:t>La régie qui finance les créateurs. Mais ne sponsorise pas la page que tu veux monétiser.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124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220">
                <a:solidFill>
                  <a:srgbClr val="7E8AAC"/>
                </a:solidFill>
                <a:latin typeface="Inter SemiBold"/>
              </a:rPr>
              <a:t>KEVIN CHRIS DIGITAL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521921" y="643737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50">
                <a:solidFill>
                  <a:srgbClr val="7E8AAC"/>
                </a:solidFill>
                <a:latin typeface="Inter SemiBold"/>
              </a:rPr>
              <a:t>06 / 20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41248" y="6364224"/>
            <a:ext cx="10509473" cy="10972"/>
          </a:xfrm>
          <a:prstGeom prst="rect">
            <a:avLst/>
          </a:prstGeom>
          <a:solidFill>
            <a:srgbClr val="263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gradFill rotWithShape="1">
            <a:gsLst>
              <a:gs pos="0">
                <a:srgbClr val="0E1426"/>
              </a:gs>
              <a:gs pos="55000">
                <a:srgbClr val="0A0E1A"/>
              </a:gs>
              <a:gs pos="100000">
                <a:srgbClr val="070A12"/>
              </a:gs>
            </a:gsLst>
            <a:lin ang="66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766560" y="-594360"/>
            <a:ext cx="8046720" cy="8046720"/>
          </a:xfrm>
          <a:prstGeom prst="ellipse">
            <a:avLst/>
          </a:prstGeom>
          <a:gradFill rotWithShape="1">
            <a:gsLst>
              <a:gs pos="0">
                <a:srgbClr val="9B6DFF">
                  <a:alpha val="40000"/>
                </a:srgbClr>
              </a:gs>
              <a:gs pos="100000">
                <a:srgbClr val="9B6D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743200" y="3840480"/>
            <a:ext cx="5852160" cy="5852160"/>
          </a:xfrm>
          <a:prstGeom prst="ellipse">
            <a:avLst/>
          </a:prstGeom>
          <a:gradFill rotWithShape="1">
            <a:gsLst>
              <a:gs pos="0">
                <a:srgbClr val="FB7185">
                  <a:alpha val="24000"/>
                </a:srgbClr>
              </a:gs>
              <a:gs pos="100000">
                <a:srgbClr val="FB7185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914400" y="-1645920"/>
            <a:ext cx="3657600" cy="3657600"/>
          </a:xfrm>
          <a:prstGeom prst="ellipse">
            <a:avLst/>
          </a:prstGeom>
          <a:gradFill rotWithShape="1">
            <a:gsLst>
              <a:gs pos="0">
                <a:srgbClr val="9B6DFF">
                  <a:alpha val="16000"/>
                </a:srgbClr>
              </a:gs>
              <a:gs pos="100000">
                <a:srgbClr val="9B6D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0" y="-457200"/>
            <a:ext cx="6400800" cy="7315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34000" b="0">
                <a:solidFill>
                  <a:srgbClr val="111A30"/>
                </a:solidFill>
                <a:latin typeface="Montserrat Black"/>
              </a:rPr>
              <a:t>2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2395728"/>
            <a:ext cx="1828800" cy="18288"/>
          </a:xfrm>
          <a:prstGeom prst="rect">
            <a:avLst/>
          </a:prstGeom>
          <a:gradFill rotWithShape="1">
            <a:gsLst>
              <a:gs pos="0">
                <a:srgbClr val="FB7185"/>
              </a:gs>
              <a:gs pos="100000">
                <a:srgbClr val="9B6D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41248" y="2583179"/>
            <a:ext cx="310896" cy="118872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B7185"/>
              </a:gs>
              <a:gs pos="100000">
                <a:srgbClr val="9B6D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98448" y="2496312"/>
            <a:ext cx="7315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300">
                <a:gradFill rotWithShape="1">
                  <a:gsLst>
                    <a:gs pos="0">
                      <a:srgbClr val="FB7185"/>
                    </a:gs>
                    <a:gs pos="100000">
                      <a:srgbClr val="9B6DFF"/>
                    </a:gs>
                  </a:gsLst>
                  <a:lin ang="0" scaled="1"/>
                </a:gradFill>
                <a:latin typeface="Montserrat Bold"/>
              </a:rPr>
              <a:t>PARTIE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2971800"/>
            <a:ext cx="87782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4600" b="0">
                <a:solidFill>
                  <a:srgbClr val="F4F7FF"/>
                </a:solidFill>
                <a:latin typeface="Montserrat Black"/>
              </a:rPr>
              <a:t>Créer du contenu qui performe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4736592"/>
            <a:ext cx="8046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600" b="0">
                <a:solidFill>
                  <a:srgbClr val="AEB9D6"/>
                </a:solidFill>
                <a:latin typeface="Inter"/>
              </a:rPr>
              <a:t>Le contenu est roi — mais seulement s'il sert l'algorithme.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104120" y="2697480"/>
            <a:ext cx="1417320" cy="141732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B7185"/>
              </a:gs>
              <a:gs pos="100000">
                <a:srgbClr val="9B6DFF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9B6DFF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mage-2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88168" y="3081528"/>
            <a:ext cx="649224" cy="64922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4124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220">
                <a:solidFill>
                  <a:srgbClr val="7E8AAC"/>
                </a:solidFill>
                <a:latin typeface="Inter SemiBold"/>
              </a:rPr>
              <a:t>KEVIN CHRIS DIGITAL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gradFill rotWithShape="1">
            <a:gsLst>
              <a:gs pos="0">
                <a:srgbClr val="0E1426"/>
              </a:gs>
              <a:gs pos="55000">
                <a:srgbClr val="0A0E1A"/>
              </a:gs>
              <a:gs pos="100000">
                <a:srgbClr val="070A12"/>
              </a:gs>
            </a:gsLst>
            <a:lin ang="66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926080" y="-2560320"/>
            <a:ext cx="5486400" cy="5486400"/>
          </a:xfrm>
          <a:prstGeom prst="ellipse">
            <a:avLst/>
          </a:prstGeom>
          <a:gradFill rotWithShape="1">
            <a:gsLst>
              <a:gs pos="0">
                <a:srgbClr val="9B6DFF">
                  <a:alpha val="26000"/>
                </a:srgbClr>
              </a:gs>
              <a:gs pos="100000">
                <a:srgbClr val="9B6D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961119" y="3657600"/>
            <a:ext cx="6217920" cy="6217920"/>
          </a:xfrm>
          <a:prstGeom prst="ellipse">
            <a:avLst/>
          </a:prstGeom>
          <a:gradFill rotWithShape="1">
            <a:gsLst>
              <a:gs pos="0">
                <a:srgbClr val="5B8DEF">
                  <a:alpha val="26000"/>
                </a:srgbClr>
              </a:gs>
              <a:gs pos="100000">
                <a:srgbClr val="5B8DE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8" y="544068"/>
            <a:ext cx="310896" cy="118872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B7185"/>
              </a:gs>
              <a:gs pos="100000">
                <a:srgbClr val="9B6D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98448" y="457200"/>
            <a:ext cx="7315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300">
                <a:gradFill rotWithShape="1">
                  <a:gsLst>
                    <a:gs pos="0">
                      <a:srgbClr val="FB7185"/>
                    </a:gs>
                    <a:gs pos="100000">
                      <a:srgbClr val="9B6DFF"/>
                    </a:gs>
                  </a:gsLst>
                  <a:lin ang="0" scaled="1"/>
                </a:gradFill>
                <a:latin typeface="Montserrat Bold"/>
              </a:rPr>
              <a:t>PARTIE 2 · CRÉER DU CONTENU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859536"/>
            <a:ext cx="10509473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0">
                <a:solidFill>
                  <a:srgbClr val="F4F7FF"/>
                </a:solidFill>
                <a:latin typeface="Montserrat ExtraBold"/>
              </a:rPr>
              <a:t>Niche rentable &amp; portée organique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" y="1783080"/>
            <a:ext cx="5071856" cy="4160520"/>
          </a:xfrm>
          <a:prstGeom prst="roundRect">
            <a:avLst>
              <a:gd name="adj" fmla="val 3516"/>
            </a:avLst>
          </a:prstGeom>
          <a:solidFill>
            <a:srgbClr val="1A2440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170432" y="2112264"/>
            <a:ext cx="658368" cy="658368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B7185"/>
              </a:gs>
              <a:gs pos="100000">
                <a:srgbClr val="9B6DFF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9B6DFF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age-8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2267712"/>
            <a:ext cx="347471" cy="34747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993392" y="2240280"/>
            <a:ext cx="3700256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4F7FF"/>
                </a:solidFill>
                <a:latin typeface="Montserrat Bold"/>
              </a:rPr>
              <a:t>Choisir sa niche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8" y="3063239"/>
            <a:ext cx="43403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4F7FF"/>
                </a:solidFill>
                <a:latin typeface="Inter SemiBold"/>
              </a:rPr>
              <a:t>Au croisement de 3 cercles :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25296" y="3584448"/>
            <a:ext cx="237744" cy="23774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B7185"/>
              </a:gs>
              <a:gs pos="100000">
                <a:srgbClr val="9B6D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64208" y="3529584"/>
            <a:ext cx="38831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AEB9D6"/>
                </a:solidFill>
                <a:latin typeface="Inter Medium"/>
              </a:rPr>
              <a:t>Ta passion / ton expertise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225296" y="4041648"/>
            <a:ext cx="237744" cy="23774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B7185"/>
              </a:gs>
              <a:gs pos="100000">
                <a:srgbClr val="9B6D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64208" y="3986784"/>
            <a:ext cx="38831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AEB9D6"/>
                </a:solidFill>
                <a:latin typeface="Inter Medium"/>
              </a:rPr>
              <a:t>Une demande réelle de l'audience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225296" y="4498848"/>
            <a:ext cx="237744" cy="23774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B7185"/>
              </a:gs>
              <a:gs pos="100000">
                <a:srgbClr val="9B6D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64208" y="4443984"/>
            <a:ext cx="38831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AEB9D6"/>
                </a:solidFill>
                <a:latin typeface="Inter Medium"/>
              </a:rPr>
              <a:t>Un potentiel de monétisation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07008" y="5010912"/>
            <a:ext cx="4340336" cy="12801"/>
          </a:xfrm>
          <a:prstGeom prst="rect">
            <a:avLst/>
          </a:prstGeom>
          <a:solidFill>
            <a:srgbClr val="263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7008" y="5212080"/>
            <a:ext cx="434033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F4F7FF"/>
                </a:solidFill>
                <a:latin typeface="Inter SemiBold"/>
              </a:rPr>
              <a:t>Une niche claire = une audience fidèle = un algorithme qui comprend exactement à qui te montrer.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78864" y="1783080"/>
            <a:ext cx="5071856" cy="4160520"/>
          </a:xfrm>
          <a:prstGeom prst="roundRect">
            <a:avLst>
              <a:gd name="adj" fmla="val 3516"/>
            </a:avLst>
          </a:prstGeom>
          <a:solidFill>
            <a:srgbClr val="151D33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608048" y="2112264"/>
            <a:ext cx="658368" cy="658368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5B8DEF"/>
              </a:gs>
              <a:gs pos="100000">
                <a:srgbClr val="9B6DFF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9B6DFF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image-8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3496" y="2267712"/>
            <a:ext cx="347471" cy="34747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431008" y="2167128"/>
            <a:ext cx="3700256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>
                <a:solidFill>
                  <a:srgbClr val="F4F7FF"/>
                </a:solidFill>
                <a:latin typeface="Montserrat Bold"/>
              </a:rPr>
              <a:t>Booster ta portée (gratuitement)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44624" y="3246120"/>
            <a:ext cx="237744" cy="23774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5B8DEF"/>
              </a:gs>
              <a:gs pos="100000">
                <a:srgbClr val="9B6D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65248" y="3182112"/>
            <a:ext cx="39288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F4F7FF"/>
                </a:solidFill>
                <a:latin typeface="Inter SemiBold"/>
              </a:rPr>
              <a:t>Soigne ton HOOK — </a:t>
            </a:r>
            <a:r>
              <a:rPr sz="1300" b="0">
                <a:solidFill>
                  <a:srgbClr val="AEB9D6"/>
                </a:solidFill>
                <a:latin typeface="Inter"/>
              </a:rPr>
              <a:t>titre ou 3 premières secondes.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644624" y="3785615"/>
            <a:ext cx="237744" cy="23774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5B8DEF"/>
              </a:gs>
              <a:gs pos="100000">
                <a:srgbClr val="9B6D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65248" y="3721608"/>
            <a:ext cx="39288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F4F7FF"/>
                </a:solidFill>
                <a:latin typeface="Inter SemiBold"/>
              </a:rPr>
              <a:t>Provoque le commentaire — </a:t>
            </a:r>
            <a:r>
              <a:rPr sz="1300" b="0">
                <a:solidFill>
                  <a:srgbClr val="AEB9D6"/>
                </a:solidFill>
                <a:latin typeface="Inter"/>
              </a:rPr>
              <a:t>polarise, pose une question.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44624" y="4325112"/>
            <a:ext cx="237744" cy="23774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5B8DEF"/>
              </a:gs>
              <a:gs pos="100000">
                <a:srgbClr val="9B6D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65248" y="4261104"/>
            <a:ext cx="39288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F4F7FF"/>
                </a:solidFill>
                <a:latin typeface="Inter SemiBold"/>
              </a:rPr>
              <a:t>Vise le partage — </a:t>
            </a:r>
            <a:r>
              <a:rPr sz="1300" b="0">
                <a:solidFill>
                  <a:srgbClr val="AEB9D6"/>
                </a:solidFill>
                <a:latin typeface="Inter"/>
              </a:rPr>
              <a:t>un contenu utile lié à la sécurité se partage seul.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644624" y="4864607"/>
            <a:ext cx="237744" cy="23774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5B8DEF"/>
              </a:gs>
              <a:gs pos="100000">
                <a:srgbClr val="9B6D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065248" y="4800600"/>
            <a:ext cx="39288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F4F7FF"/>
                </a:solidFill>
                <a:latin typeface="Inter SemiBold"/>
              </a:rPr>
              <a:t>Mise sur les Reels — </a:t>
            </a:r>
            <a:r>
              <a:rPr sz="1300" b="0">
                <a:solidFill>
                  <a:srgbClr val="AEB9D6"/>
                </a:solidFill>
                <a:latin typeface="Inter"/>
              </a:rPr>
              <a:t>c'est là que l'algorithme pousse la visibilité.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44624" y="5404103"/>
            <a:ext cx="237744" cy="23774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5B8DEF"/>
              </a:gs>
              <a:gs pos="100000">
                <a:srgbClr val="9B6D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65248" y="5340096"/>
            <a:ext cx="39288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F4F7FF"/>
                </a:solidFill>
                <a:latin typeface="Inter SemiBold"/>
              </a:rPr>
              <a:t>Publie régulièrement — </a:t>
            </a:r>
            <a:r>
              <a:rPr sz="1300" b="0">
                <a:solidFill>
                  <a:srgbClr val="AEB9D6"/>
                </a:solidFill>
                <a:latin typeface="Inter"/>
              </a:rPr>
              <a:t>la constance bat la perfection.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220">
                <a:solidFill>
                  <a:srgbClr val="7E8AAC"/>
                </a:solidFill>
                <a:latin typeface="Inter SemiBold"/>
              </a:rPr>
              <a:t>KEVIN CHRIS DIGITAL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21921" y="643737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50">
                <a:solidFill>
                  <a:srgbClr val="7E8AAC"/>
                </a:solidFill>
                <a:latin typeface="Inter SemiBold"/>
              </a:rPr>
              <a:t>08 / 20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41248" y="6364224"/>
            <a:ext cx="10509473" cy="10972"/>
          </a:xfrm>
          <a:prstGeom prst="rect">
            <a:avLst/>
          </a:prstGeom>
          <a:solidFill>
            <a:srgbClr val="263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gradFill rotWithShape="1">
            <a:gsLst>
              <a:gs pos="0">
                <a:srgbClr val="0E1426"/>
              </a:gs>
              <a:gs pos="55000">
                <a:srgbClr val="0A0E1A"/>
              </a:gs>
              <a:gs pos="100000">
                <a:srgbClr val="070A12"/>
              </a:gs>
            </a:gsLst>
            <a:lin ang="66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766560" y="-594360"/>
            <a:ext cx="8046720" cy="8046720"/>
          </a:xfrm>
          <a:prstGeom prst="ellipse">
            <a:avLst/>
          </a:prstGeom>
          <a:gradFill rotWithShape="1">
            <a:gsLst>
              <a:gs pos="0">
                <a:srgbClr val="F6B43C">
                  <a:alpha val="40000"/>
                </a:srgbClr>
              </a:gs>
              <a:gs pos="100000">
                <a:srgbClr val="F6B43C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743200" y="3840480"/>
            <a:ext cx="5852160" cy="5852160"/>
          </a:xfrm>
          <a:prstGeom prst="ellipse">
            <a:avLst/>
          </a:prstGeom>
          <a:gradFill rotWithShape="1">
            <a:gsLst>
              <a:gs pos="0">
                <a:srgbClr val="F6B43C">
                  <a:alpha val="24000"/>
                </a:srgbClr>
              </a:gs>
              <a:gs pos="100000">
                <a:srgbClr val="F6B43C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914400" y="-1645920"/>
            <a:ext cx="3657600" cy="3657600"/>
          </a:xfrm>
          <a:prstGeom prst="ellipse">
            <a:avLst/>
          </a:prstGeom>
          <a:gradFill rotWithShape="1">
            <a:gsLst>
              <a:gs pos="0">
                <a:srgbClr val="FFD36E">
                  <a:alpha val="16000"/>
                </a:srgbClr>
              </a:gs>
              <a:gs pos="100000">
                <a:srgbClr val="FFD36E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0" y="-457200"/>
            <a:ext cx="6400800" cy="7315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34000" b="0">
                <a:solidFill>
                  <a:srgbClr val="111A30"/>
                </a:solidFill>
                <a:latin typeface="Montserrat Black"/>
              </a:rPr>
              <a:t>3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2395728"/>
            <a:ext cx="1828800" cy="18288"/>
          </a:xfrm>
          <a:prstGeom prst="rect">
            <a:avLst/>
          </a:prstGeom>
          <a:gradFill rotWithShape="1">
            <a:gsLst>
              <a:gs pos="0">
                <a:srgbClr val="F6B43C"/>
              </a:gs>
              <a:gs pos="100000">
                <a:srgbClr val="FFD36E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41248" y="2583179"/>
            <a:ext cx="310896" cy="118872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6B43C"/>
              </a:gs>
              <a:gs pos="100000">
                <a:srgbClr val="FFD36E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98448" y="2496312"/>
            <a:ext cx="7315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300">
                <a:gradFill rotWithShape="1">
                  <a:gsLst>
                    <a:gs pos="0">
                      <a:srgbClr val="F6B43C"/>
                    </a:gs>
                    <a:gs pos="100000">
                      <a:srgbClr val="FFD36E"/>
                    </a:gs>
                  </a:gsLst>
                  <a:lin ang="0" scaled="1"/>
                </a:gradFill>
                <a:latin typeface="Montserrat Bold"/>
              </a:rPr>
              <a:t>PARTIE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2971800"/>
            <a:ext cx="87782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4600" b="0">
                <a:solidFill>
                  <a:srgbClr val="F4F7FF"/>
                </a:solidFill>
                <a:latin typeface="Montserrat Black"/>
              </a:rPr>
              <a:t>Les programmes de monétisation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4736592"/>
            <a:ext cx="8046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600" b="0">
                <a:solidFill>
                  <a:srgbClr val="AEB9D6"/>
                </a:solidFill>
                <a:latin typeface="Inter"/>
              </a:rPr>
              <a:t>Comment Facebook paie réellement les créateurs en 2025.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104120" y="2697480"/>
            <a:ext cx="1417320" cy="141732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6B43C"/>
              </a:gs>
              <a:gs pos="100000">
                <a:srgbClr val="FFD36E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FFD36E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mage-2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88168" y="3081528"/>
            <a:ext cx="649224" cy="64922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4124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220">
                <a:solidFill>
                  <a:srgbClr val="7E8AAC"/>
                </a:solidFill>
                <a:latin typeface="Inter SemiBold"/>
              </a:rPr>
              <a:t>KEVIN CHRIS DIGITAL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gradFill rotWithShape="1">
            <a:gsLst>
              <a:gs pos="0">
                <a:srgbClr val="0E1426"/>
              </a:gs>
              <a:gs pos="55000">
                <a:srgbClr val="0A0E1A"/>
              </a:gs>
              <a:gs pos="100000">
                <a:srgbClr val="070A12"/>
              </a:gs>
            </a:gsLst>
            <a:lin ang="66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61120" y="-2926080"/>
            <a:ext cx="5852160" cy="5852160"/>
          </a:xfrm>
          <a:prstGeom prst="ellipse">
            <a:avLst/>
          </a:prstGeom>
          <a:gradFill rotWithShape="1">
            <a:gsLst>
              <a:gs pos="0">
                <a:srgbClr val="F6B43C">
                  <a:alpha val="24000"/>
                </a:srgbClr>
              </a:gs>
              <a:gs pos="100000">
                <a:srgbClr val="F6B43C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926080" y="4023359"/>
            <a:ext cx="5852160" cy="5852160"/>
          </a:xfrm>
          <a:prstGeom prst="ellipse">
            <a:avLst/>
          </a:prstGeom>
          <a:gradFill rotWithShape="1">
            <a:gsLst>
              <a:gs pos="0">
                <a:srgbClr val="5B8DEF">
                  <a:alpha val="22000"/>
                </a:srgbClr>
              </a:gs>
              <a:gs pos="100000">
                <a:srgbClr val="5B8DE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8" y="544068"/>
            <a:ext cx="310896" cy="118872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6B43C"/>
              </a:gs>
              <a:gs pos="100000">
                <a:srgbClr val="FFD36E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98448" y="457200"/>
            <a:ext cx="7315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300">
                <a:gradFill rotWithShape="1">
                  <a:gsLst>
                    <a:gs pos="0">
                      <a:srgbClr val="F6B43C"/>
                    </a:gs>
                    <a:gs pos="100000">
                      <a:srgbClr val="FFD36E"/>
                    </a:gs>
                  </a:gsLst>
                  <a:lin ang="0" scaled="1"/>
                </a:gradFill>
                <a:latin typeface="Montserrat Bold"/>
              </a:rPr>
              <a:t>PARTIE 3 · MONÉTISATION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859536"/>
            <a:ext cx="10509473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F4F7FF"/>
                </a:solidFill>
                <a:latin typeface="Montserrat ExtraBold"/>
              </a:rPr>
              <a:t>Le Content Monetization Program (CMP) 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1408176"/>
            <a:ext cx="1050947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7E8AAC"/>
                </a:solidFill>
                <a:latin typeface="Inter"/>
              </a:rPr>
              <a:t>Depuis 2025, Facebook unifie tout. Fini les programmes dispersés (In-Stream, Ads Reels, Bonus de performance).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011680"/>
            <a:ext cx="5071856" cy="1783080"/>
          </a:xfrm>
          <a:prstGeom prst="roundRect">
            <a:avLst>
              <a:gd name="adj" fmla="val 8205"/>
            </a:avLst>
          </a:prstGeom>
          <a:solidFill>
            <a:srgbClr val="151D33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152144" y="2304288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554480" y="2267712"/>
            <a:ext cx="415745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50">
                <a:solidFill>
                  <a:srgbClr val="FB7185"/>
                </a:solidFill>
                <a:latin typeface="Inter SemiBold"/>
              </a:rPr>
              <a:t>AVANT — programmes dispersés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" y="2852928"/>
            <a:ext cx="4431776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AEB9D6"/>
                </a:solidFill>
                <a:latin typeface="Inter"/>
              </a:rPr>
              <a:t>Publicités In-Stream · Ads sur Reels · Bonus de performance · Abonnements · Étoiles · Contenu de marque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78864" y="2011680"/>
            <a:ext cx="5071856" cy="1783080"/>
          </a:xfrm>
          <a:prstGeom prst="roundRect">
            <a:avLst>
              <a:gd name="adj" fmla="val 8205"/>
            </a:avLst>
          </a:prstGeom>
          <a:solidFill>
            <a:srgbClr val="1A2440"/>
          </a:solidFill>
          <a:ln w="13970">
            <a:solidFill>
              <a:srgbClr val="3A4A78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89760" y="2304288"/>
            <a:ext cx="256032" cy="256032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6B43C"/>
              </a:gs>
              <a:gs pos="100000">
                <a:srgbClr val="FFD36E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92096" y="2267712"/>
            <a:ext cx="415745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30">
                <a:gradFill rotWithShape="1">
                  <a:gsLst>
                    <a:gs pos="0">
                      <a:srgbClr val="F6B43C"/>
                    </a:gs>
                    <a:gs pos="100000">
                      <a:srgbClr val="FFD36E"/>
                    </a:gs>
                  </a:gsLst>
                  <a:lin ang="0" scaled="1"/>
                </a:gradFill>
                <a:latin typeface="Inter SemiBold"/>
              </a:rPr>
              <a:t>DEPUIS 2025 — un système unique : le CMP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08048" y="2852928"/>
            <a:ext cx="4431776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AEB9D6"/>
                </a:solidFill>
                <a:latin typeface="Inter"/>
              </a:rPr>
              <a:t>Un seul programme, un seul tableau de bord centralisé. Rémunération basée sur la performance de chaque contenu.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1248" y="4114800"/>
            <a:ext cx="3295893" cy="1783080"/>
          </a:xfrm>
          <a:prstGeom prst="roundRect">
            <a:avLst>
              <a:gd name="adj" fmla="val 8205"/>
            </a:avLst>
          </a:prstGeom>
          <a:solidFill>
            <a:srgbClr val="151D33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115568" y="4389120"/>
            <a:ext cx="566928" cy="566928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5B8DEF"/>
              </a:gs>
              <a:gs pos="100000">
                <a:srgbClr val="9B6DFF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9B6DFF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-10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3584" y="4517136"/>
            <a:ext cx="310896" cy="31089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115568" y="5084064"/>
            <a:ext cx="274725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>
                <a:solidFill>
                  <a:srgbClr val="F4F7FF"/>
                </a:solidFill>
                <a:latin typeface="Montserrat Bold"/>
              </a:rPr>
              <a:t>Tous les formats payés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" y="5431536"/>
            <a:ext cx="274725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80" b="0">
                <a:solidFill>
                  <a:srgbClr val="AEB9D6"/>
                </a:solidFill>
                <a:latin typeface="Inter"/>
              </a:rPr>
              <a:t>Pas seulement les vidéos : aussi les photos, les posts texte, et bientôt les stories.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48037" y="4114800"/>
            <a:ext cx="3295893" cy="1783080"/>
          </a:xfrm>
          <a:prstGeom prst="roundRect">
            <a:avLst>
              <a:gd name="adj" fmla="val 8205"/>
            </a:avLst>
          </a:prstGeom>
          <a:solidFill>
            <a:srgbClr val="151D33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722357" y="4389120"/>
            <a:ext cx="566928" cy="566928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6B43C"/>
              </a:gs>
              <a:gs pos="100000">
                <a:srgbClr val="FFD36E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FFD36E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mage-10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0373" y="4517136"/>
            <a:ext cx="310896" cy="31089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722357" y="5084064"/>
            <a:ext cx="274725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>
                <a:solidFill>
                  <a:srgbClr val="F4F7FF"/>
                </a:solidFill>
                <a:latin typeface="Montserrat Bold"/>
              </a:rPr>
              <a:t>Basé sur la performance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22357" y="5431536"/>
            <a:ext cx="274725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80" b="0">
                <a:solidFill>
                  <a:srgbClr val="AEB9D6"/>
                </a:solidFill>
                <a:latin typeface="Inter"/>
              </a:rPr>
              <a:t>Vues, durée de visionnage, engagement et format déterminent tes gains.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54827" y="4114800"/>
            <a:ext cx="3295893" cy="1783080"/>
          </a:xfrm>
          <a:prstGeom prst="roundRect">
            <a:avLst>
              <a:gd name="adj" fmla="val 8205"/>
            </a:avLst>
          </a:prstGeom>
          <a:solidFill>
            <a:srgbClr val="151D33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329147" y="4389120"/>
            <a:ext cx="566928" cy="566928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31D7E6"/>
              </a:gs>
              <a:gs pos="100000">
                <a:srgbClr val="5B8DEF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5B8DEF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image-10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7163" y="4517136"/>
            <a:ext cx="310896" cy="310896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8329147" y="5084064"/>
            <a:ext cx="274725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>
                <a:solidFill>
                  <a:srgbClr val="F4F7FF"/>
                </a:solidFill>
                <a:latin typeface="Montserrat Bold"/>
              </a:rPr>
              <a:t>Tout centralisé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9147" y="5431536"/>
            <a:ext cx="274725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80" b="0">
                <a:solidFill>
                  <a:srgbClr val="AEB9D6"/>
                </a:solidFill>
                <a:latin typeface="Inter"/>
              </a:rPr>
              <a:t>Un tableau de bord unique pour suivre revenus, performances et conformité.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220">
                <a:solidFill>
                  <a:srgbClr val="7E8AAC"/>
                </a:solidFill>
                <a:latin typeface="Inter SemiBold"/>
              </a:rPr>
              <a:t>KEVIN CHRIS DIGITAL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21921" y="643737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50">
                <a:solidFill>
                  <a:srgbClr val="7E8AAC"/>
                </a:solidFill>
                <a:latin typeface="Inter SemiBold"/>
              </a:rPr>
              <a:t>10 / 20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41248" y="6364224"/>
            <a:ext cx="10509473" cy="10972"/>
          </a:xfrm>
          <a:prstGeom prst="rect">
            <a:avLst/>
          </a:prstGeom>
          <a:solidFill>
            <a:srgbClr val="263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gradFill rotWithShape="1">
            <a:gsLst>
              <a:gs pos="0">
                <a:srgbClr val="0E1426"/>
              </a:gs>
              <a:gs pos="55000">
                <a:srgbClr val="0A0E1A"/>
              </a:gs>
              <a:gs pos="100000">
                <a:srgbClr val="070A12"/>
              </a:gs>
            </a:gsLst>
            <a:lin ang="66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926080" y="-2743200"/>
            <a:ext cx="5486400" cy="5486400"/>
          </a:xfrm>
          <a:prstGeom prst="ellipse">
            <a:avLst/>
          </a:prstGeom>
          <a:gradFill rotWithShape="1">
            <a:gsLst>
              <a:gs pos="0">
                <a:srgbClr val="F6B43C">
                  <a:alpha val="22000"/>
                </a:srgbClr>
              </a:gs>
              <a:gs pos="100000">
                <a:srgbClr val="F6B43C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961119" y="3657600"/>
            <a:ext cx="6217920" cy="6217920"/>
          </a:xfrm>
          <a:prstGeom prst="ellipse">
            <a:avLst/>
          </a:prstGeom>
          <a:gradFill rotWithShape="1">
            <a:gsLst>
              <a:gs pos="0">
                <a:srgbClr val="9B6DFF">
                  <a:alpha val="26000"/>
                </a:srgbClr>
              </a:gs>
              <a:gs pos="100000">
                <a:srgbClr val="9B6D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8" y="544068"/>
            <a:ext cx="310896" cy="118872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6B43C"/>
              </a:gs>
              <a:gs pos="100000">
                <a:srgbClr val="FFD36E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98448" y="457200"/>
            <a:ext cx="7315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300">
                <a:gradFill rotWithShape="1">
                  <a:gsLst>
                    <a:gs pos="0">
                      <a:srgbClr val="F6B43C"/>
                    </a:gs>
                    <a:gs pos="100000">
                      <a:srgbClr val="FFD36E"/>
                    </a:gs>
                  </a:gsLst>
                  <a:lin ang="0" scaled="1"/>
                </a:gradFill>
                <a:latin typeface="Montserrat Bold"/>
              </a:rPr>
              <a:t>PARTIE 3 · MONÉTISATION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859536"/>
            <a:ext cx="10509473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0">
                <a:solidFill>
                  <a:srgbClr val="F4F7FF"/>
                </a:solidFill>
                <a:latin typeface="Montserrat ExtraBold"/>
              </a:rPr>
              <a:t>Es-tu éligible ? Les conditions du CMP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1463040"/>
            <a:ext cx="1050947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>
                <a:solidFill>
                  <a:srgbClr val="7E8AAC"/>
                </a:solidFill>
                <a:latin typeface="Inter"/>
              </a:rPr>
              <a:t>Même avec des millions de vues, une page peut être refusée. La préparation fait la différence.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157984"/>
            <a:ext cx="5071856" cy="1225296"/>
          </a:xfrm>
          <a:prstGeom prst="roundRect">
            <a:avLst>
              <a:gd name="adj" fmla="val 11940"/>
            </a:avLst>
          </a:prstGeom>
          <a:solidFill>
            <a:srgbClr val="151D33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115568" y="2450591"/>
            <a:ext cx="603504" cy="603504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5B8DEF"/>
              </a:gs>
              <a:gs pos="100000">
                <a:srgbClr val="9B6DFF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9B6DFF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-1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2728" y="2587751"/>
            <a:ext cx="329184" cy="3291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65376" y="2414015"/>
            <a:ext cx="37916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F4F7FF"/>
                </a:solidFill>
                <a:latin typeface="Montserrat Bold"/>
              </a:rPr>
              <a:t>18 ans minimum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65376" y="2779776"/>
            <a:ext cx="379169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EB9D6"/>
                </a:solidFill>
                <a:latin typeface="Inter"/>
              </a:rPr>
              <a:t>Et une page active ou un profil en mode professionnel.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864" y="2157984"/>
            <a:ext cx="5071856" cy="1225296"/>
          </a:xfrm>
          <a:prstGeom prst="roundRect">
            <a:avLst>
              <a:gd name="adj" fmla="val 11940"/>
            </a:avLst>
          </a:prstGeom>
          <a:solidFill>
            <a:srgbClr val="151D33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53184" y="2450591"/>
            <a:ext cx="603504" cy="603504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31D7E6"/>
              </a:gs>
              <a:gs pos="100000">
                <a:srgbClr val="5B8DEF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5B8DEF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mage-11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0344" y="2587751"/>
            <a:ext cx="329184" cy="32918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302992" y="2414015"/>
            <a:ext cx="37916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F4F7FF"/>
                </a:solidFill>
                <a:latin typeface="Montserrat Bold"/>
              </a:rPr>
              <a:t>5 000 abonnés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02992" y="2779776"/>
            <a:ext cx="379169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EB9D6"/>
                </a:solidFill>
                <a:latin typeface="Inter"/>
              </a:rPr>
              <a:t>Parfois l'invitation arrive avant. Mon conseil : attends 50k et des publications virales.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1248" y="3584448"/>
            <a:ext cx="5071856" cy="1225296"/>
          </a:xfrm>
          <a:prstGeom prst="roundRect">
            <a:avLst>
              <a:gd name="adj" fmla="val 11940"/>
            </a:avLst>
          </a:prstGeom>
          <a:solidFill>
            <a:srgbClr val="151D33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5568" y="3877056"/>
            <a:ext cx="603504" cy="603504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3DDC97"/>
              </a:gs>
              <a:gs pos="100000">
                <a:srgbClr val="31D7E6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31D7E6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image-11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52728" y="4014216"/>
            <a:ext cx="329184" cy="32918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865376" y="3840480"/>
            <a:ext cx="37916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F4F7FF"/>
                </a:solidFill>
                <a:latin typeface="Montserrat Bold"/>
              </a:rPr>
              <a:t>Conformité stricte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65376" y="4206240"/>
            <a:ext cx="379169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EB9D6"/>
                </a:solidFill>
                <a:latin typeface="Inter"/>
              </a:rPr>
              <a:t>Contenu original, pas de droits d'auteur violés, respect des normes communautaires.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78864" y="3584448"/>
            <a:ext cx="5071856" cy="1225296"/>
          </a:xfrm>
          <a:prstGeom prst="roundRect">
            <a:avLst>
              <a:gd name="adj" fmla="val 11940"/>
            </a:avLst>
          </a:prstGeom>
          <a:solidFill>
            <a:srgbClr val="151D33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553184" y="3877056"/>
            <a:ext cx="603504" cy="603504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6B43C"/>
              </a:gs>
              <a:gs pos="100000">
                <a:srgbClr val="FFD36E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FFD36E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-11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0344" y="4014216"/>
            <a:ext cx="329184" cy="329184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302992" y="3840480"/>
            <a:ext cx="37916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F4F7FF"/>
                </a:solidFill>
                <a:latin typeface="Montserrat Bold"/>
              </a:rPr>
              <a:t>Pays éligible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02992" y="4206240"/>
            <a:ext cx="379169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EB9D6"/>
                </a:solidFill>
                <a:latin typeface="Inter"/>
              </a:rPr>
              <a:t>Selon la liste de Meta — et elle évolue. Sinon → Partie 4.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1248" y="5047488"/>
            <a:ext cx="10509473" cy="914400"/>
          </a:xfrm>
          <a:prstGeom prst="roundRect">
            <a:avLst>
              <a:gd name="adj" fmla="val 16000"/>
            </a:avLst>
          </a:prstGeom>
          <a:solidFill>
            <a:srgbClr val="2A1A20"/>
          </a:solidFill>
          <a:ln w="15240">
            <a:solidFill>
              <a:srgbClr val="FB7185"/>
            </a:solidFill>
          </a:ln>
          <a:effectLst>
            <a:outerShdw blurRad="254000" dist="114300" dir="5400000" rotWithShape="0">
              <a:srgbClr val="FB7185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152144" y="5221224"/>
            <a:ext cx="566928" cy="566928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B7185"/>
              </a:gs>
              <a:gs pos="100000">
                <a:srgbClr val="9B6DFF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9B6DFF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image-3-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80160" y="5349240"/>
            <a:ext cx="310896" cy="310896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920240" y="5193792"/>
            <a:ext cx="913787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>
                <a:solidFill>
                  <a:srgbClr val="FB7185"/>
                </a:solidFill>
                <a:latin typeface="Montserrat Bold"/>
              </a:rPr>
              <a:t>Le piège que beaucoup oublient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1200" b="0">
                <a:solidFill>
                  <a:srgbClr val="AEB9D6"/>
                </a:solidFill>
                <a:latin typeface="Inter"/>
              </a:rPr>
              <a:t>Sans compte de règlement validé, Facebook ne pourra JAMAIS te payer — même avec des millions de vues.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220">
                <a:solidFill>
                  <a:srgbClr val="7E8AAC"/>
                </a:solidFill>
                <a:latin typeface="Inter SemiBold"/>
              </a:rPr>
              <a:t>KEVIN CHRIS DIGITAL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21921" y="643737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50">
                <a:solidFill>
                  <a:srgbClr val="7E8AAC"/>
                </a:solidFill>
                <a:latin typeface="Inter SemiBold"/>
              </a:rPr>
              <a:t>11 / 20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41248" y="6364224"/>
            <a:ext cx="10509473" cy="10972"/>
          </a:xfrm>
          <a:prstGeom prst="rect">
            <a:avLst/>
          </a:prstGeom>
          <a:solidFill>
            <a:srgbClr val="263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gradFill rotWithShape="1">
            <a:gsLst>
              <a:gs pos="0">
                <a:srgbClr val="0E1426"/>
              </a:gs>
              <a:gs pos="55000">
                <a:srgbClr val="0A0E1A"/>
              </a:gs>
              <a:gs pos="100000">
                <a:srgbClr val="070A12"/>
              </a:gs>
            </a:gsLst>
            <a:lin ang="66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766560" y="-594360"/>
            <a:ext cx="8046720" cy="8046720"/>
          </a:xfrm>
          <a:prstGeom prst="ellipse">
            <a:avLst/>
          </a:prstGeom>
          <a:gradFill rotWithShape="1">
            <a:gsLst>
              <a:gs pos="0">
                <a:srgbClr val="31D7E6">
                  <a:alpha val="40000"/>
                </a:srgbClr>
              </a:gs>
              <a:gs pos="100000">
                <a:srgbClr val="31D7E6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743200" y="3840480"/>
            <a:ext cx="5852160" cy="5852160"/>
          </a:xfrm>
          <a:prstGeom prst="ellipse">
            <a:avLst/>
          </a:prstGeom>
          <a:gradFill rotWithShape="1">
            <a:gsLst>
              <a:gs pos="0">
                <a:srgbClr val="31D7E6">
                  <a:alpha val="24000"/>
                </a:srgbClr>
              </a:gs>
              <a:gs pos="100000">
                <a:srgbClr val="31D7E6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914400" y="-1645920"/>
            <a:ext cx="3657600" cy="3657600"/>
          </a:xfrm>
          <a:prstGeom prst="ellipse">
            <a:avLst/>
          </a:prstGeom>
          <a:gradFill rotWithShape="1">
            <a:gsLst>
              <a:gs pos="0">
                <a:srgbClr val="5B8DEF">
                  <a:alpha val="16000"/>
                </a:srgbClr>
              </a:gs>
              <a:gs pos="100000">
                <a:srgbClr val="5B8DE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0" y="-457200"/>
            <a:ext cx="6400800" cy="7315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34000" b="0">
                <a:solidFill>
                  <a:srgbClr val="111A30"/>
                </a:solidFill>
                <a:latin typeface="Montserrat Black"/>
              </a:rPr>
              <a:t>4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2395728"/>
            <a:ext cx="1828800" cy="18288"/>
          </a:xfrm>
          <a:prstGeom prst="rect">
            <a:avLst/>
          </a:prstGeom>
          <a:gradFill rotWithShape="1">
            <a:gsLst>
              <a:gs pos="0">
                <a:srgbClr val="31D7E6"/>
              </a:gs>
              <a:gs pos="100000">
                <a:srgbClr val="5B8DE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41248" y="2583179"/>
            <a:ext cx="310896" cy="118872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1D7E6"/>
              </a:gs>
              <a:gs pos="100000">
                <a:srgbClr val="5B8DE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98448" y="2496312"/>
            <a:ext cx="7315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300">
                <a:gradFill rotWithShape="1">
                  <a:gsLst>
                    <a:gs pos="0">
                      <a:srgbClr val="31D7E6"/>
                    </a:gs>
                    <a:gs pos="100000">
                      <a:srgbClr val="5B8DEF"/>
                    </a:gs>
                  </a:gsLst>
                  <a:lin ang="0" scaled="1"/>
                </a:gradFill>
                <a:latin typeface="Montserrat Bold"/>
              </a:rPr>
              <a:t>PARTIE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2971800"/>
            <a:ext cx="87782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4600" b="0">
                <a:solidFill>
                  <a:srgbClr val="F4F7FF"/>
                </a:solidFill>
                <a:latin typeface="Montserrat Black"/>
              </a:rPr>
              <a:t>Monétiser depuis un pays inéligible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4736592"/>
            <a:ext cx="8046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600" b="0">
                <a:solidFill>
                  <a:srgbClr val="AEB9D6"/>
                </a:solidFill>
                <a:latin typeface="Inter"/>
              </a:rPr>
              <a:t>Inéligible ne veut pas dire impossible. C'est un détour, pas une fin.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104120" y="2697480"/>
            <a:ext cx="1417320" cy="141732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31D7E6"/>
              </a:gs>
              <a:gs pos="100000">
                <a:srgbClr val="5B8DEF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5B8DEF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mage-2-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88168" y="3081528"/>
            <a:ext cx="649224" cy="64922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4124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220">
                <a:solidFill>
                  <a:srgbClr val="7E8AAC"/>
                </a:solidFill>
                <a:latin typeface="Inter SemiBold"/>
              </a:rPr>
              <a:t>KEVIN CHRIS DIGITAL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gradFill rotWithShape="1">
            <a:gsLst>
              <a:gs pos="0">
                <a:srgbClr val="0E1426"/>
              </a:gs>
              <a:gs pos="55000">
                <a:srgbClr val="0A0E1A"/>
              </a:gs>
              <a:gs pos="100000">
                <a:srgbClr val="070A12"/>
              </a:gs>
            </a:gsLst>
            <a:lin ang="66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61120" y="-2926080"/>
            <a:ext cx="5852160" cy="5852160"/>
          </a:xfrm>
          <a:prstGeom prst="ellipse">
            <a:avLst/>
          </a:prstGeom>
          <a:gradFill rotWithShape="1">
            <a:gsLst>
              <a:gs pos="0">
                <a:srgbClr val="31D7E6">
                  <a:alpha val="24000"/>
                </a:srgbClr>
              </a:gs>
              <a:gs pos="100000">
                <a:srgbClr val="31D7E6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926080" y="4023359"/>
            <a:ext cx="5852160" cy="5852160"/>
          </a:xfrm>
          <a:prstGeom prst="ellipse">
            <a:avLst/>
          </a:prstGeom>
          <a:gradFill rotWithShape="1">
            <a:gsLst>
              <a:gs pos="0">
                <a:srgbClr val="5B8DEF">
                  <a:alpha val="24000"/>
                </a:srgbClr>
              </a:gs>
              <a:gs pos="100000">
                <a:srgbClr val="5B8DE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8" y="544068"/>
            <a:ext cx="310896" cy="118872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1D7E6"/>
              </a:gs>
              <a:gs pos="100000">
                <a:srgbClr val="5B8DE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98448" y="457200"/>
            <a:ext cx="7315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300">
                <a:gradFill rotWithShape="1">
                  <a:gsLst>
                    <a:gs pos="0">
                      <a:srgbClr val="31D7E6"/>
                    </a:gs>
                    <a:gs pos="100000">
                      <a:srgbClr val="5B8DEF"/>
                    </a:gs>
                  </a:gsLst>
                  <a:lin ang="0" scaled="1"/>
                </a:gradFill>
                <a:latin typeface="Montserrat Bold"/>
              </a:rPr>
              <a:t>PARTIE 4 · PAYS INÉLIGIBLE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859536"/>
            <a:ext cx="10509473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F4F7FF"/>
                </a:solidFill>
                <a:latin typeface="Montserrat ExtraBold"/>
              </a:rPr>
              <a:t>La stratégie de contournement, étape par étape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1408176"/>
            <a:ext cx="1050947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7E8AAC"/>
                </a:solidFill>
                <a:latin typeface="Inter"/>
              </a:rPr>
              <a:t>Légale et testée sur le terrain. La condition de base : une page déjà créée et bien développée.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011680"/>
            <a:ext cx="5071856" cy="1755648"/>
          </a:xfrm>
          <a:prstGeom prst="roundRect">
            <a:avLst>
              <a:gd name="adj" fmla="val 8333"/>
            </a:avLst>
          </a:prstGeom>
          <a:solidFill>
            <a:srgbClr val="1A2440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133856" y="2304288"/>
            <a:ext cx="603504" cy="603504"/>
          </a:xfrm>
          <a:prstGeom prst="roundRect">
            <a:avLst>
              <a:gd name="adj" fmla="val 30000"/>
            </a:avLst>
          </a:prstGeom>
          <a:solidFill>
            <a:srgbClr val="1E2A4A"/>
          </a:solidFill>
          <a:ln w="12700">
            <a:solidFill>
              <a:srgbClr val="3A4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33856" y="2304288"/>
            <a:ext cx="603504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36" b="0">
                <a:gradFill rotWithShape="1">
                  <a:gsLst>
                    <a:gs pos="0">
                      <a:srgbClr val="31D7E6"/>
                    </a:gs>
                    <a:gs pos="100000">
                      <a:srgbClr val="5B8DEF"/>
                    </a:gs>
                  </a:gsLst>
                  <a:lin ang="5400000" scaled="1"/>
                </a:gradFill>
                <a:latin typeface="Montserrat Black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01952" y="2340864"/>
            <a:ext cx="379169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50" b="0">
                <a:solidFill>
                  <a:srgbClr val="F4F7FF"/>
                </a:solidFill>
                <a:latin typeface="Montserrat Bold"/>
              </a:rPr>
              <a:t>Ajouter un admin éligible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2144" y="2999232"/>
            <a:ext cx="446835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AEB9D6"/>
                </a:solidFill>
                <a:latin typeface="Inter"/>
              </a:rPr>
              <a:t>Un proche de confiance ou un prestataire résidant dans un pays éligible, avec contrôle total. Protège-toi via un portefeuille Business.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864" y="2011680"/>
            <a:ext cx="5071856" cy="1755648"/>
          </a:xfrm>
          <a:prstGeom prst="roundRect">
            <a:avLst>
              <a:gd name="adj" fmla="val 8333"/>
            </a:avLst>
          </a:prstGeom>
          <a:solidFill>
            <a:srgbClr val="1A2440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71472" y="2304288"/>
            <a:ext cx="603504" cy="603504"/>
          </a:xfrm>
          <a:prstGeom prst="roundRect">
            <a:avLst>
              <a:gd name="adj" fmla="val 30000"/>
            </a:avLst>
          </a:prstGeom>
          <a:solidFill>
            <a:srgbClr val="1E2A4A"/>
          </a:solidFill>
          <a:ln w="12700">
            <a:solidFill>
              <a:srgbClr val="3A4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71472" y="2304288"/>
            <a:ext cx="603504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36" b="0">
                <a:gradFill rotWithShape="1">
                  <a:gsLst>
                    <a:gs pos="0">
                      <a:srgbClr val="31D7E6"/>
                    </a:gs>
                    <a:gs pos="100000">
                      <a:srgbClr val="5B8DEF"/>
                    </a:gs>
                  </a:gsLst>
                  <a:lin ang="5400000" scaled="1"/>
                </a:gradFill>
                <a:latin typeface="Montserrat Black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39568" y="2340864"/>
            <a:ext cx="379169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50" b="0">
                <a:solidFill>
                  <a:srgbClr val="F4F7FF"/>
                </a:solidFill>
                <a:latin typeface="Montserrat Bold"/>
              </a:rPr>
              <a:t>Réinitialiser ton accès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9760" y="2999232"/>
            <a:ext cx="446835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AEB9D6"/>
                </a:solidFill>
                <a:latin typeface="Inter"/>
              </a:rPr>
              <a:t>Déconnecte tes autres appareils, vide le cache, désinstalle Facebook. Active un VPN sur le pays éligible, vérifie via DNS leak test, réinstalle.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1248" y="4005072"/>
            <a:ext cx="5071856" cy="1755648"/>
          </a:xfrm>
          <a:prstGeom prst="roundRect">
            <a:avLst>
              <a:gd name="adj" fmla="val 8333"/>
            </a:avLst>
          </a:prstGeom>
          <a:solidFill>
            <a:srgbClr val="1A2440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33856" y="4297680"/>
            <a:ext cx="603504" cy="603504"/>
          </a:xfrm>
          <a:prstGeom prst="roundRect">
            <a:avLst>
              <a:gd name="adj" fmla="val 30000"/>
            </a:avLst>
          </a:prstGeom>
          <a:solidFill>
            <a:srgbClr val="1E2A4A"/>
          </a:solidFill>
          <a:ln w="12700">
            <a:solidFill>
              <a:srgbClr val="3A4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33856" y="4297680"/>
            <a:ext cx="603504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36" b="0">
                <a:gradFill rotWithShape="1">
                  <a:gsLst>
                    <a:gs pos="0">
                      <a:srgbClr val="31D7E6"/>
                    </a:gs>
                    <a:gs pos="100000">
                      <a:srgbClr val="5B8DEF"/>
                    </a:gs>
                  </a:gsLst>
                  <a:lin ang="5400000" scaled="1"/>
                </a:gradFill>
                <a:latin typeface="Montserrat Black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01952" y="4334256"/>
            <a:ext cx="379169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50" b="0">
                <a:solidFill>
                  <a:srgbClr val="F4F7FF"/>
                </a:solidFill>
                <a:latin typeface="Montserrat Bold"/>
              </a:rPr>
              <a:t>Attendre l'invitation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52144" y="4992624"/>
            <a:ext cx="446835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AEB9D6"/>
                </a:solidFill>
                <a:latin typeface="Inter"/>
              </a:rPr>
              <a:t>L'admin ouvre la page régulièrement depuis le pays éligible. Dès que la condition « pays » est validée, tu passes à la config.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78864" y="4005072"/>
            <a:ext cx="5071856" cy="1755648"/>
          </a:xfrm>
          <a:prstGeom prst="roundRect">
            <a:avLst>
              <a:gd name="adj" fmla="val 8333"/>
            </a:avLst>
          </a:prstGeom>
          <a:solidFill>
            <a:srgbClr val="1A2440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571472" y="4297680"/>
            <a:ext cx="603504" cy="603504"/>
          </a:xfrm>
          <a:prstGeom prst="roundRect">
            <a:avLst>
              <a:gd name="adj" fmla="val 30000"/>
            </a:avLst>
          </a:prstGeom>
          <a:solidFill>
            <a:srgbClr val="1E2A4A"/>
          </a:solidFill>
          <a:ln w="12700">
            <a:solidFill>
              <a:srgbClr val="3A4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71472" y="4297680"/>
            <a:ext cx="603504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36" b="0">
                <a:gradFill rotWithShape="1">
                  <a:gsLst>
                    <a:gs pos="0">
                      <a:srgbClr val="31D7E6"/>
                    </a:gs>
                    <a:gs pos="100000">
                      <a:srgbClr val="5B8DEF"/>
                    </a:gs>
                  </a:gsLst>
                  <a:lin ang="5400000" scaled="1"/>
                </a:gradFill>
                <a:latin typeface="Montserrat Black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39568" y="4334256"/>
            <a:ext cx="379169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50" b="0">
                <a:solidFill>
                  <a:srgbClr val="F4F7FF"/>
                </a:solidFill>
                <a:latin typeface="Montserrat Bold"/>
              </a:rPr>
              <a:t>Configurer SANS erreur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9760" y="4992624"/>
            <a:ext cx="446835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AEB9D6"/>
                </a:solidFill>
                <a:latin typeface="Inter"/>
              </a:rPr>
              <a:t>Les infos du compte de règlement doivent venir du pays éligible. Garde le compte de règlement sur TON propre compte pour le contrôle.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220">
                <a:solidFill>
                  <a:srgbClr val="7E8AAC"/>
                </a:solidFill>
                <a:latin typeface="Inter SemiBold"/>
              </a:rPr>
              <a:t>KEVIN CHRIS DIGITAL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21921" y="643737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50">
                <a:solidFill>
                  <a:srgbClr val="7E8AAC"/>
                </a:solidFill>
                <a:latin typeface="Inter SemiBold"/>
              </a:rPr>
              <a:t>13 / 20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41248" y="6364224"/>
            <a:ext cx="10509473" cy="10972"/>
          </a:xfrm>
          <a:prstGeom prst="rect">
            <a:avLst/>
          </a:prstGeom>
          <a:solidFill>
            <a:srgbClr val="263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gradFill rotWithShape="1">
            <a:gsLst>
              <a:gs pos="0">
                <a:srgbClr val="0E1426"/>
              </a:gs>
              <a:gs pos="55000">
                <a:srgbClr val="0A0E1A"/>
              </a:gs>
              <a:gs pos="100000">
                <a:srgbClr val="070A12"/>
              </a:gs>
            </a:gsLst>
            <a:lin ang="66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926080" y="-2560320"/>
            <a:ext cx="5486400" cy="5486400"/>
          </a:xfrm>
          <a:prstGeom prst="ellipse">
            <a:avLst/>
          </a:prstGeom>
          <a:gradFill rotWithShape="1">
            <a:gsLst>
              <a:gs pos="0">
                <a:srgbClr val="31D7E6">
                  <a:alpha val="24000"/>
                </a:srgbClr>
              </a:gs>
              <a:gs pos="100000">
                <a:srgbClr val="31D7E6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961119" y="3657600"/>
            <a:ext cx="6217920" cy="6217920"/>
          </a:xfrm>
          <a:prstGeom prst="ellipse">
            <a:avLst/>
          </a:prstGeom>
          <a:gradFill rotWithShape="1">
            <a:gsLst>
              <a:gs pos="0">
                <a:srgbClr val="9B6DFF">
                  <a:alpha val="24000"/>
                </a:srgbClr>
              </a:gs>
              <a:gs pos="100000">
                <a:srgbClr val="9B6D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8" y="544068"/>
            <a:ext cx="310896" cy="118872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1D7E6"/>
              </a:gs>
              <a:gs pos="100000">
                <a:srgbClr val="5B8DE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98448" y="457200"/>
            <a:ext cx="7315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300">
                <a:gradFill rotWithShape="1">
                  <a:gsLst>
                    <a:gs pos="0">
                      <a:srgbClr val="31D7E6"/>
                    </a:gs>
                    <a:gs pos="100000">
                      <a:srgbClr val="5B8DEF"/>
                    </a:gs>
                  </a:gsLst>
                  <a:lin ang="0" scaled="1"/>
                </a:gradFill>
                <a:latin typeface="Montserrat Bold"/>
              </a:rPr>
              <a:t>PARTIE 4 · PAYS INÉLIGIBLE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859536"/>
            <a:ext cx="10509473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>
                <a:solidFill>
                  <a:srgbClr val="F4F7FF"/>
                </a:solidFill>
                <a:latin typeface="Montserrat ExtraBold"/>
              </a:rPr>
              <a:t>Encaisser : PayPal &amp; déblocage du compte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" y="1783080"/>
            <a:ext cx="5071856" cy="4160520"/>
          </a:xfrm>
          <a:prstGeom prst="roundRect">
            <a:avLst>
              <a:gd name="adj" fmla="val 3516"/>
            </a:avLst>
          </a:prstGeom>
          <a:solidFill>
            <a:srgbClr val="1A2440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170432" y="2112264"/>
            <a:ext cx="658368" cy="658368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31D7E6"/>
              </a:gs>
              <a:gs pos="100000">
                <a:srgbClr val="5B8DEF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5B8DEF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age-14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2267712"/>
            <a:ext cx="347471" cy="34747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993392" y="2167128"/>
            <a:ext cx="3700256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>
                <a:solidFill>
                  <a:srgbClr val="F4F7FF"/>
                </a:solidFill>
                <a:latin typeface="Montserrat Bold"/>
              </a:rPr>
              <a:t>PayPal depuis un pays inéligible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07008" y="3236976"/>
            <a:ext cx="237744" cy="23774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1D7E6"/>
              </a:gs>
              <a:gs pos="100000">
                <a:srgbClr val="5B8DE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3163824"/>
            <a:ext cx="392885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AEB9D6"/>
                </a:solidFill>
                <a:latin typeface="Inter"/>
              </a:rPr>
              <a:t>Passe par le site (pas l'appli) et change le domaine : paypal.com/fr, /de, /be…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07008" y="3913632"/>
            <a:ext cx="237744" cy="23774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1D7E6"/>
              </a:gs>
              <a:gs pos="100000">
                <a:srgbClr val="5B8DE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27632" y="3840480"/>
            <a:ext cx="392885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AEB9D6"/>
                </a:solidFill>
                <a:latin typeface="Inter"/>
              </a:rPr>
              <a:t>Numéro réel du pays éligible (évite les numéros virtuels).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7008" y="4590288"/>
            <a:ext cx="237744" cy="23774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1D7E6"/>
              </a:gs>
              <a:gs pos="100000">
                <a:srgbClr val="5B8DE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27632" y="4517136"/>
            <a:ext cx="392885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AEB9D6"/>
                </a:solidFill>
                <a:latin typeface="Inter"/>
              </a:rPr>
              <a:t>Email neuf dédié + adresse physique réelle d'un proche.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07008" y="5266944"/>
            <a:ext cx="237744" cy="23774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1D7E6"/>
              </a:gs>
              <a:gs pos="100000">
                <a:srgbClr val="5B8DE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27632" y="5193792"/>
            <a:ext cx="392885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AEB9D6"/>
                </a:solidFill>
                <a:latin typeface="Inter"/>
              </a:rPr>
              <a:t>Crée un compte Business + un compte perso pour retirer via Xoom vers ton mobile money.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78864" y="1783080"/>
            <a:ext cx="5071856" cy="4160520"/>
          </a:xfrm>
          <a:prstGeom prst="roundRect">
            <a:avLst>
              <a:gd name="adj" fmla="val 3516"/>
            </a:avLst>
          </a:prstGeom>
          <a:solidFill>
            <a:srgbClr val="151D33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608048" y="2112264"/>
            <a:ext cx="658368" cy="658368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B7185"/>
              </a:gs>
              <a:gs pos="100000">
                <a:srgbClr val="9B6DFF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9B6DFF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image-14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3496" y="2267712"/>
            <a:ext cx="347471" cy="347471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431008" y="2167128"/>
            <a:ext cx="3700256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>
                <a:solidFill>
                  <a:srgbClr val="F4F7FF"/>
                </a:solidFill>
                <a:latin typeface="Montserrat Bold"/>
              </a:rPr>
              <a:t>Compte de règlement bloqué 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44624" y="3154680"/>
            <a:ext cx="434033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AEB9D6"/>
                </a:solidFill>
                <a:latin typeface="Inter"/>
              </a:rPr>
              <a:t>90 % des créateurs inéligibles tombent dans ce piège : invités à la monétisation, ils configurent… et la validation est refusée.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44624" y="4297680"/>
            <a:ext cx="4340336" cy="960120"/>
          </a:xfrm>
          <a:prstGeom prst="roundRect">
            <a:avLst>
              <a:gd name="adj" fmla="val 12380"/>
            </a:avLst>
          </a:prstGeom>
          <a:solidFill>
            <a:srgbClr val="1E2A4A"/>
          </a:solidFill>
          <a:ln w="12700">
            <a:solidFill>
              <a:srgbClr val="3A4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45792" y="4453128"/>
            <a:ext cx="397457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>
                <a:solidFill>
                  <a:srgbClr val="3DDC97"/>
                </a:solidFill>
                <a:latin typeface="Inter SemiBold"/>
              </a:rPr>
              <a:t>La solution : </a:t>
            </a:r>
            <a:r>
              <a:rPr sz="1250" b="0">
                <a:solidFill>
                  <a:srgbClr val="AEB9D6"/>
                </a:solidFill>
                <a:latin typeface="Inter"/>
              </a:rPr>
              <a:t>un compte bien configuré + le document Meta Payout Source Transfer, signé via Docusign et envoyé au support depuis ton ordinateur.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44624" y="5394960"/>
            <a:ext cx="43403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4F7FF"/>
                </a:solidFill>
                <a:latin typeface="Inter SemiBold"/>
              </a:rPr>
              <a:t>Une fois validé, tu peux y relier ton propre PayPal.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220">
                <a:solidFill>
                  <a:srgbClr val="7E8AAC"/>
                </a:solidFill>
                <a:latin typeface="Inter SemiBold"/>
              </a:rPr>
              <a:t>KEVIN CHRIS DIGITAL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21921" y="643737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50">
                <a:solidFill>
                  <a:srgbClr val="7E8AAC"/>
                </a:solidFill>
                <a:latin typeface="Inter SemiBold"/>
              </a:rPr>
              <a:t>14 / 20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41248" y="6364224"/>
            <a:ext cx="10509473" cy="10972"/>
          </a:xfrm>
          <a:prstGeom prst="rect">
            <a:avLst/>
          </a:prstGeom>
          <a:solidFill>
            <a:srgbClr val="263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gradFill rotWithShape="1">
            <a:gsLst>
              <a:gs pos="0">
                <a:srgbClr val="0E1426"/>
              </a:gs>
              <a:gs pos="55000">
                <a:srgbClr val="0A0E1A"/>
              </a:gs>
              <a:gs pos="100000">
                <a:srgbClr val="070A12"/>
              </a:gs>
            </a:gsLst>
            <a:lin ang="66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766560" y="-594360"/>
            <a:ext cx="8046720" cy="8046720"/>
          </a:xfrm>
          <a:prstGeom prst="ellipse">
            <a:avLst/>
          </a:prstGeom>
          <a:gradFill rotWithShape="1">
            <a:gsLst>
              <a:gs pos="0">
                <a:srgbClr val="3DDC97">
                  <a:alpha val="40000"/>
                </a:srgbClr>
              </a:gs>
              <a:gs pos="100000">
                <a:srgbClr val="3DDC9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743200" y="3840480"/>
            <a:ext cx="5852160" cy="5852160"/>
          </a:xfrm>
          <a:prstGeom prst="ellipse">
            <a:avLst/>
          </a:prstGeom>
          <a:gradFill rotWithShape="1">
            <a:gsLst>
              <a:gs pos="0">
                <a:srgbClr val="3DDC97">
                  <a:alpha val="24000"/>
                </a:srgbClr>
              </a:gs>
              <a:gs pos="100000">
                <a:srgbClr val="3DDC9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914400" y="-1645920"/>
            <a:ext cx="3657600" cy="3657600"/>
          </a:xfrm>
          <a:prstGeom prst="ellipse">
            <a:avLst/>
          </a:prstGeom>
          <a:gradFill rotWithShape="1">
            <a:gsLst>
              <a:gs pos="0">
                <a:srgbClr val="31D7E6">
                  <a:alpha val="16000"/>
                </a:srgbClr>
              </a:gs>
              <a:gs pos="100000">
                <a:srgbClr val="31D7E6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0" y="-457200"/>
            <a:ext cx="6400800" cy="7315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34000" b="0">
                <a:solidFill>
                  <a:srgbClr val="111A30"/>
                </a:solidFill>
                <a:latin typeface="Montserrat Black"/>
              </a:rPr>
              <a:t>5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2395728"/>
            <a:ext cx="1828800" cy="18288"/>
          </a:xfrm>
          <a:prstGeom prst="rect">
            <a:avLst/>
          </a:prstGeom>
          <a:gradFill rotWithShape="1">
            <a:gsLst>
              <a:gs pos="0">
                <a:srgbClr val="3DDC97"/>
              </a:gs>
              <a:gs pos="100000">
                <a:srgbClr val="31D7E6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41248" y="2583179"/>
            <a:ext cx="310896" cy="118872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DDC97"/>
              </a:gs>
              <a:gs pos="100000">
                <a:srgbClr val="31D7E6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98448" y="2496312"/>
            <a:ext cx="7315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300">
                <a:gradFill rotWithShape="1">
                  <a:gsLst>
                    <a:gs pos="0">
                      <a:srgbClr val="3DDC97"/>
                    </a:gs>
                    <a:gs pos="100000">
                      <a:srgbClr val="31D7E6"/>
                    </a:gs>
                  </a:gsLst>
                  <a:lin ang="0" scaled="1"/>
                </a:gradFill>
                <a:latin typeface="Montserrat Bold"/>
              </a:rPr>
              <a:t>PARTIE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2971800"/>
            <a:ext cx="87782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4600" b="0">
                <a:solidFill>
                  <a:srgbClr val="F4F7FF"/>
                </a:solidFill>
                <a:latin typeface="Montserrat Black"/>
              </a:rPr>
              <a:t>Gérer les restrictions &amp; diversifier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4736592"/>
            <a:ext cx="8046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600" b="0">
                <a:solidFill>
                  <a:srgbClr val="AEB9D6"/>
                </a:solidFill>
                <a:latin typeface="Inter"/>
              </a:rPr>
              <a:t>Sécurise ta page, puis bâtis ton propre système de revenus.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104120" y="2697480"/>
            <a:ext cx="1417320" cy="141732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3DDC97"/>
              </a:gs>
              <a:gs pos="100000">
                <a:srgbClr val="31D7E6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31D7E6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mage-2-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88168" y="3081528"/>
            <a:ext cx="649224" cy="64922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4124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220">
                <a:solidFill>
                  <a:srgbClr val="7E8AAC"/>
                </a:solidFill>
                <a:latin typeface="Inter SemiBold"/>
              </a:rPr>
              <a:t>KEVIN CHRIS DIGITAL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gradFill rotWithShape="1">
            <a:gsLst>
              <a:gs pos="0">
                <a:srgbClr val="0E1426"/>
              </a:gs>
              <a:gs pos="55000">
                <a:srgbClr val="0A0E1A"/>
              </a:gs>
              <a:gs pos="100000">
                <a:srgbClr val="070A12"/>
              </a:gs>
            </a:gsLst>
            <a:lin ang="66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61120" y="-2743200"/>
            <a:ext cx="5852160" cy="5852160"/>
          </a:xfrm>
          <a:prstGeom prst="ellipse">
            <a:avLst/>
          </a:prstGeom>
          <a:gradFill rotWithShape="1">
            <a:gsLst>
              <a:gs pos="0">
                <a:srgbClr val="FB7185">
                  <a:alpha val="22000"/>
                </a:srgbClr>
              </a:gs>
              <a:gs pos="100000">
                <a:srgbClr val="FB7185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926080" y="3840480"/>
            <a:ext cx="5852160" cy="5852160"/>
          </a:xfrm>
          <a:prstGeom prst="ellipse">
            <a:avLst/>
          </a:prstGeom>
          <a:gradFill rotWithShape="1">
            <a:gsLst>
              <a:gs pos="0">
                <a:srgbClr val="3DDC97">
                  <a:alpha val="20000"/>
                </a:srgbClr>
              </a:gs>
              <a:gs pos="100000">
                <a:srgbClr val="3DDC9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8" y="544068"/>
            <a:ext cx="310896" cy="118872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B7185"/>
              </a:gs>
              <a:gs pos="100000">
                <a:srgbClr val="9B6D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98448" y="457200"/>
            <a:ext cx="91440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300">
                <a:gradFill rotWithShape="1">
                  <a:gsLst>
                    <a:gs pos="0">
                      <a:srgbClr val="FB7185"/>
                    </a:gs>
                    <a:gs pos="100000">
                      <a:srgbClr val="9B6DFF"/>
                    </a:gs>
                  </a:gsLst>
                  <a:lin ang="0" scaled="1"/>
                </a:gradFill>
                <a:latin typeface="Montserrat Bold"/>
              </a:rPr>
              <a:t>PARTIE 5 · RESTRICTIONS &amp; DIVERSIFICATION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859536"/>
            <a:ext cx="10509473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F4F7FF"/>
                </a:solidFill>
                <a:latin typeface="Montserrat ExtraBold"/>
              </a:rPr>
              <a:t>Protéger ta page &amp; ne pas dépendre de Facebook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" y="1783080"/>
            <a:ext cx="5071856" cy="4160520"/>
          </a:xfrm>
          <a:prstGeom prst="roundRect">
            <a:avLst>
              <a:gd name="adj" fmla="val 3516"/>
            </a:avLst>
          </a:prstGeom>
          <a:solidFill>
            <a:srgbClr val="1A2440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170432" y="2112264"/>
            <a:ext cx="658368" cy="658368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B7185"/>
              </a:gs>
              <a:gs pos="100000">
                <a:srgbClr val="9B6DFF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9B6DFF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age-2-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2267712"/>
            <a:ext cx="347471" cy="34747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993392" y="2167128"/>
            <a:ext cx="3700256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>
                <a:solidFill>
                  <a:srgbClr val="F4F7FF"/>
                </a:solidFill>
                <a:latin typeface="Montserrat Bold"/>
              </a:rPr>
              <a:t>Éviter &amp; gérer les restrictions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07008" y="3236976"/>
            <a:ext cx="237744" cy="23774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B7185"/>
              </a:gs>
              <a:gs pos="100000">
                <a:srgbClr val="9B6D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3163824"/>
            <a:ext cx="392885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AEB9D6"/>
                </a:solidFill>
                <a:latin typeface="Inter"/>
              </a:rPr>
              <a:t>Respecte strictement les normes : pas de contenu trompeur, violent, haineux ou volé.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07008" y="3950208"/>
            <a:ext cx="237744" cy="23774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B7185"/>
              </a:gs>
              <a:gs pos="100000">
                <a:srgbClr val="9B6D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27632" y="3877056"/>
            <a:ext cx="392885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AEB9D6"/>
                </a:solidFill>
                <a:latin typeface="Inter"/>
              </a:rPr>
              <a:t>Surveille ton score de conformité dans Meta Business Suite.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7008" y="4663440"/>
            <a:ext cx="237744" cy="23774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B7185"/>
              </a:gs>
              <a:gs pos="100000">
                <a:srgbClr val="9B6D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27632" y="4590288"/>
            <a:ext cx="392885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AEB9D6"/>
                </a:solidFill>
                <a:latin typeface="Inter"/>
              </a:rPr>
              <a:t>Attention à la liaison Facebook–Instagram : une restriction sur l'un touche l'autre.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07008" y="5376672"/>
            <a:ext cx="237744" cy="23774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B7185"/>
              </a:gs>
              <a:gs pos="100000">
                <a:srgbClr val="9B6D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27632" y="5303520"/>
            <a:ext cx="392885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AEB9D6"/>
                </a:solidFill>
                <a:latin typeface="Inter"/>
              </a:rPr>
              <a:t>En cas de sanction : garde ton calme et utilise les recours officiels.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78864" y="1783080"/>
            <a:ext cx="5071856" cy="4160520"/>
          </a:xfrm>
          <a:prstGeom prst="roundRect">
            <a:avLst>
              <a:gd name="adj" fmla="val 3516"/>
            </a:avLst>
          </a:prstGeom>
          <a:solidFill>
            <a:srgbClr val="1A2440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608048" y="2112264"/>
            <a:ext cx="658368" cy="658368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3DDC97"/>
              </a:gs>
              <a:gs pos="100000">
                <a:srgbClr val="31D7E6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31D7E6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image-2-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3496" y="2267712"/>
            <a:ext cx="347471" cy="347471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431008" y="2167128"/>
            <a:ext cx="3700256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>
                <a:solidFill>
                  <a:srgbClr val="F4F7FF"/>
                </a:solidFill>
                <a:latin typeface="Montserrat Bold"/>
              </a:rPr>
              <a:t>Facebook est un tremplin, pas un patron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44624" y="3236976"/>
            <a:ext cx="237744" cy="23774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DDC97"/>
              </a:gs>
              <a:gs pos="100000">
                <a:srgbClr val="31D7E6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65248" y="3163824"/>
            <a:ext cx="392885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AEB9D6"/>
                </a:solidFill>
                <a:latin typeface="Inter"/>
              </a:rPr>
              <a:t>Vends tes propres produits (physiques ou digitaux) : tu n'attends plus que Facebook te paie.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44624" y="3986784"/>
            <a:ext cx="237744" cy="23774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DDC97"/>
              </a:gs>
              <a:gs pos="100000">
                <a:srgbClr val="31D7E6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65248" y="3913632"/>
            <a:ext cx="392885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AEB9D6"/>
                </a:solidFill>
                <a:latin typeface="Inter"/>
              </a:rPr>
              <a:t>Aligne tes produits sur ta niche et ton audience (insights Facebook).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44624" y="4736592"/>
            <a:ext cx="237744" cy="23774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DDC97"/>
              </a:gs>
              <a:gs pos="100000">
                <a:srgbClr val="31D7E6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65248" y="4663440"/>
            <a:ext cx="392885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AEB9D6"/>
                </a:solidFill>
                <a:latin typeface="Inter"/>
              </a:rPr>
              <a:t>Affiliation, événements payants, services personnalisés.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44624" y="5614416"/>
            <a:ext cx="4340336" cy="713232"/>
          </a:xfrm>
          <a:prstGeom prst="roundRect">
            <a:avLst>
              <a:gd name="adj" fmla="val 16666"/>
            </a:avLst>
          </a:prstGeom>
          <a:gradFill rotWithShape="1">
            <a:gsLst>
              <a:gs pos="0">
                <a:srgbClr val="3DDC97">
                  <a:alpha val="16000"/>
                </a:srgbClr>
              </a:gs>
              <a:gs pos="100000">
                <a:srgbClr val="31D7E6">
                  <a:alpha val="16000"/>
                </a:srgbClr>
              </a:gs>
            </a:gsLst>
            <a:lin ang="5400000" scaled="1"/>
          </a:gradFill>
          <a:ln w="12700">
            <a:solidFill>
              <a:srgbClr val="3A4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44624" y="5614416"/>
            <a:ext cx="4340336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F4F7FF"/>
                </a:solidFill>
                <a:latin typeface="Inter SemiBold"/>
              </a:rPr>
              <a:t>« Ne mets pas tous tes œufs dans le même panier. 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220">
                <a:solidFill>
                  <a:srgbClr val="7E8AAC"/>
                </a:solidFill>
                <a:latin typeface="Inter SemiBold"/>
              </a:rPr>
              <a:t>KEVIN CHRIS DIGITAL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21921" y="643737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50">
                <a:solidFill>
                  <a:srgbClr val="7E8AAC"/>
                </a:solidFill>
                <a:latin typeface="Inter SemiBold"/>
              </a:rPr>
              <a:t>16 / 20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41248" y="6364224"/>
            <a:ext cx="10509473" cy="10972"/>
          </a:xfrm>
          <a:prstGeom prst="rect">
            <a:avLst/>
          </a:prstGeom>
          <a:solidFill>
            <a:srgbClr val="263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gradFill rotWithShape="1">
            <a:gsLst>
              <a:gs pos="0">
                <a:srgbClr val="0E1426"/>
              </a:gs>
              <a:gs pos="55000">
                <a:srgbClr val="0A0E1A"/>
              </a:gs>
              <a:gs pos="100000">
                <a:srgbClr val="070A12"/>
              </a:gs>
            </a:gsLst>
            <a:lin ang="66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315200" y="2103120"/>
            <a:ext cx="8412480" cy="8412480"/>
          </a:xfrm>
          <a:prstGeom prst="ellipse">
            <a:avLst/>
          </a:prstGeom>
          <a:gradFill rotWithShape="1">
            <a:gsLst>
              <a:gs pos="0">
                <a:srgbClr val="9B6DFF">
                  <a:alpha val="40000"/>
                </a:srgbClr>
              </a:gs>
              <a:gs pos="100000">
                <a:srgbClr val="9B6D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834640" y="-2834640"/>
            <a:ext cx="6217920" cy="6217920"/>
          </a:xfrm>
          <a:prstGeom prst="ellipse">
            <a:avLst/>
          </a:prstGeom>
          <a:gradFill rotWithShape="1">
            <a:gsLst>
              <a:gs pos="0">
                <a:srgbClr val="5B8DEF">
                  <a:alpha val="32000"/>
                </a:srgbClr>
              </a:gs>
              <a:gs pos="100000">
                <a:srgbClr val="5B8DE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046720" y="-1463040"/>
            <a:ext cx="4023360" cy="4023360"/>
          </a:xfrm>
          <a:prstGeom prst="ellipse">
            <a:avLst/>
          </a:prstGeom>
          <a:gradFill rotWithShape="1">
            <a:gsLst>
              <a:gs pos="0">
                <a:srgbClr val="F6B43C">
                  <a:alpha val="16000"/>
                </a:srgbClr>
              </a:gs>
              <a:gs pos="100000">
                <a:srgbClr val="F6B43C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8" y="1092707"/>
            <a:ext cx="310896" cy="118872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5B8DEF"/>
              </a:gs>
              <a:gs pos="100000">
                <a:srgbClr val="9B6D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98448" y="1005839"/>
            <a:ext cx="7315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300">
                <a:gradFill rotWithShape="1">
                  <a:gsLst>
                    <a:gs pos="0">
                      <a:srgbClr val="5B8DEF"/>
                    </a:gs>
                    <a:gs pos="100000">
                      <a:srgbClr val="9B6DFF"/>
                    </a:gs>
                  </a:gsLst>
                  <a:lin ang="0" scaled="1"/>
                </a:gradFill>
                <a:latin typeface="Montserrat Bold"/>
              </a:rPr>
              <a:t>ET MAINTENANT 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1572768"/>
            <a:ext cx="1051560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4400" b="0">
                <a:solidFill>
                  <a:srgbClr val="F4F7FF"/>
                </a:solidFill>
                <a:latin typeface="Montserrat Black"/>
              </a:rPr>
              <a:t>Je t'ai montré le </a:t>
            </a:r>
            <a:r>
              <a:rPr sz="4400" b="0">
                <a:gradFill rotWithShape="1">
                  <a:gsLst>
                    <a:gs pos="0">
                      <a:srgbClr val="5B8DEF"/>
                    </a:gs>
                    <a:gs pos="100000">
                      <a:srgbClr val="9B6DFF"/>
                    </a:gs>
                  </a:gsLst>
                  <a:lin ang="0" scaled="1"/>
                </a:gradFill>
                <a:latin typeface="Montserrat Black"/>
              </a:rPr>
              <a:t>QUOI</a:t>
            </a:r>
            <a:r>
              <a:rPr sz="4400" b="0">
                <a:solidFill>
                  <a:srgbClr val="F4F7FF"/>
                </a:solidFill>
                <a:latin typeface="Montserrat Black"/>
              </a:rPr>
              <a:t>.</a:t>
            </a:r>
          </a:p>
          <a:p>
            <a:pPr algn="l">
              <a:lnSpc>
                <a:spcPct val="104000"/>
              </a:lnSpc>
              <a:spcBef>
                <a:spcPts val="400"/>
              </a:spcBef>
            </a:pPr>
            <a:r>
              <a:rPr sz="4400" b="0">
                <a:solidFill>
                  <a:srgbClr val="F4F7FF"/>
                </a:solidFill>
                <a:latin typeface="Montserrat Black"/>
              </a:rPr>
              <a:t>Mon pack te donne le </a:t>
            </a:r>
            <a:r>
              <a:rPr sz="4400" b="0">
                <a:gradFill rotWithShape="1">
                  <a:gsLst>
                    <a:gs pos="0">
                      <a:srgbClr val="F6B43C"/>
                    </a:gs>
                    <a:gs pos="100000">
                      <a:srgbClr val="FFD36E"/>
                    </a:gs>
                  </a:gsLst>
                  <a:lin ang="0" scaled="1"/>
                </a:gradFill>
                <a:latin typeface="Montserrat Black"/>
              </a:rPr>
              <a:t>COMMENT</a:t>
            </a:r>
            <a:r>
              <a:rPr sz="4400" b="0">
                <a:solidFill>
                  <a:srgbClr val="F4F7FF"/>
                </a:solidFill>
                <a:latin typeface="Montserrat Black"/>
              </a:rPr>
              <a:t>,</a:t>
            </a:r>
          </a:p>
          <a:p>
            <a:pPr algn="l">
              <a:lnSpc>
                <a:spcPct val="104000"/>
              </a:lnSpc>
            </a:pPr>
            <a:r>
              <a:rPr sz="4400" b="0">
                <a:solidFill>
                  <a:srgbClr val="F4F7FF"/>
                </a:solidFill>
                <a:latin typeface="Montserrat Black"/>
              </a:rPr>
              <a:t>étape par étape.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4526280"/>
            <a:ext cx="457200" cy="4572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5B8DEF"/>
              </a:gs>
              <a:gs pos="100000">
                <a:srgbClr val="9B6DFF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9B6DFF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age-17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" y="4626864"/>
            <a:ext cx="256032" cy="2560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517904" y="4526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F4F7FF"/>
                </a:solidFill>
                <a:latin typeface="Inter Medium"/>
              </a:rPr>
              <a:t>Le guide complet, 7 chapitres, écrit à partir de mon expérience réelle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5129784"/>
            <a:ext cx="457200" cy="4572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5B8DEF"/>
              </a:gs>
              <a:gs pos="100000">
                <a:srgbClr val="9B6DFF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9B6DFF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mage-3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" y="5230368"/>
            <a:ext cx="256032" cy="2560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517904" y="5129784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F4F7FF"/>
                </a:solidFill>
                <a:latin typeface="Inter Medium"/>
              </a:rPr>
              <a:t>Des tutoriels vidéo pas-à-pas pour la config et le déblocage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8" y="5733288"/>
            <a:ext cx="457200" cy="4572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5B8DEF"/>
              </a:gs>
              <a:gs pos="100000">
                <a:srgbClr val="9B6DFF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9B6DFF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mage-11-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" y="5833872"/>
            <a:ext cx="256032" cy="2560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517904" y="5733288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F4F7FF"/>
                </a:solidFill>
                <a:latin typeface="Inter Medium"/>
              </a:rPr>
              <a:t>Une communauté privée WhatsApp pour ne jamais rester bloqué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07521" y="635508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0" spc="100">
                <a:solidFill>
                  <a:srgbClr val="7E8AAC"/>
                </a:solidFill>
                <a:latin typeface="Inter SemiBold"/>
              </a:rPr>
              <a:t>© Kevin Chris Digital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gradFill rotWithShape="1">
            <a:gsLst>
              <a:gs pos="0">
                <a:srgbClr val="0E1426"/>
              </a:gs>
              <a:gs pos="55000">
                <a:srgbClr val="0A0E1A"/>
              </a:gs>
              <a:gs pos="100000">
                <a:srgbClr val="070A12"/>
              </a:gs>
            </a:gsLst>
            <a:lin ang="66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926080" y="-2560320"/>
            <a:ext cx="5486400" cy="5486400"/>
          </a:xfrm>
          <a:prstGeom prst="ellipse">
            <a:avLst/>
          </a:prstGeom>
          <a:gradFill rotWithShape="1">
            <a:gsLst>
              <a:gs pos="0">
                <a:srgbClr val="5B8DEF">
                  <a:alpha val="24000"/>
                </a:srgbClr>
              </a:gs>
              <a:gs pos="100000">
                <a:srgbClr val="5B8DE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961119" y="3657600"/>
            <a:ext cx="6217920" cy="6217920"/>
          </a:xfrm>
          <a:prstGeom prst="ellipse">
            <a:avLst/>
          </a:prstGeom>
          <a:gradFill rotWithShape="1">
            <a:gsLst>
              <a:gs pos="0">
                <a:srgbClr val="F6B43C">
                  <a:alpha val="24000"/>
                </a:srgbClr>
              </a:gs>
              <a:gs pos="100000">
                <a:srgbClr val="F6B43C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8" y="498348"/>
            <a:ext cx="310896" cy="118872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6B43C"/>
              </a:gs>
              <a:gs pos="100000">
                <a:srgbClr val="FFD36E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98448" y="411480"/>
            <a:ext cx="7315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300">
                <a:gradFill rotWithShape="1">
                  <a:gsLst>
                    <a:gs pos="0">
                      <a:srgbClr val="F6B43C"/>
                    </a:gs>
                    <a:gs pos="100000">
                      <a:srgbClr val="FFD36E"/>
                    </a:gs>
                  </a:gsLst>
                  <a:lin ang="0" scaled="1"/>
                </a:gradFill>
                <a:latin typeface="Montserrat Bold"/>
              </a:rPr>
              <a:t>OFFRE SPÉCIALE DU LIVE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804672"/>
            <a:ext cx="10509473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>
                <a:solidFill>
                  <a:srgbClr val="F4F7FF"/>
                </a:solidFill>
                <a:latin typeface="Montserrat ExtraBold"/>
              </a:rPr>
              <a:t>Choisis ton niveau d'accompagnement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1371600"/>
            <a:ext cx="1050947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7E8AAC"/>
                </a:solidFill>
                <a:latin typeface="Inter"/>
              </a:rPr>
              <a:t>Trois façons de passer à l'action aujourd'hui.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1847088"/>
            <a:ext cx="3283701" cy="4389120"/>
          </a:xfrm>
          <a:prstGeom prst="roundRect">
            <a:avLst>
              <a:gd name="adj" fmla="val 4455"/>
            </a:avLst>
          </a:prstGeom>
          <a:solidFill>
            <a:srgbClr val="151D33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153914" y="2267712"/>
            <a:ext cx="658368" cy="658368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5B8DEF"/>
              </a:gs>
              <a:gs pos="100000">
                <a:srgbClr val="9B6DFF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9B6DFF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-17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9362" y="2423160"/>
            <a:ext cx="347471" cy="34747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24128" y="3072384"/>
            <a:ext cx="291794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 spc="100">
                <a:gradFill rotWithShape="1">
                  <a:gsLst>
                    <a:gs pos="0">
                      <a:srgbClr val="5B8DEF"/>
                    </a:gs>
                    <a:gs pos="100000">
                      <a:srgbClr val="9B6DFF"/>
                    </a:gs>
                  </a:gsLst>
                  <a:lin ang="0" scaled="1"/>
                </a:gradFill>
                <a:latin typeface="Montserrat Bold"/>
              </a:rPr>
              <a:t>LE GUIDE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3419856"/>
            <a:ext cx="273506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6000"/>
              </a:lnSpc>
            </a:pPr>
            <a:r>
              <a:rPr sz="1100" b="0">
                <a:solidFill>
                  <a:srgbClr val="AEB9D6"/>
                </a:solidFill>
                <a:latin typeface="Inter"/>
              </a:rPr>
              <a:t>Guide Complet Monétisation Facebook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3968496"/>
            <a:ext cx="291794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300" b="0">
                <a:gradFill rotWithShape="1">
                  <a:gsLst>
                    <a:gs pos="0">
                      <a:srgbClr val="5B8DEF"/>
                    </a:gs>
                    <a:gs pos="100000">
                      <a:srgbClr val="9B6DFF"/>
                    </a:gs>
                  </a:gsLst>
                  <a:lin ang="5400000" scaled="1"/>
                </a:gradFill>
                <a:latin typeface="Montserrat Black"/>
              </a:rPr>
              <a:t>9 900 </a:t>
            </a:r>
            <a:r>
              <a:rPr sz="1500" b="0">
                <a:solidFill>
                  <a:srgbClr val="AEB9D6"/>
                </a:solidFill>
                <a:latin typeface="Montserrat Bold"/>
              </a:rPr>
              <a:t>FCFA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" y="4480560"/>
            <a:ext cx="291794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 spc="200">
                <a:solidFill>
                  <a:srgbClr val="7E8AAC"/>
                </a:solidFill>
                <a:latin typeface="Inter SemiBold"/>
              </a:rPr>
              <a:t>PRIX LIVE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298448" y="4828031"/>
            <a:ext cx="2369301" cy="10972"/>
          </a:xfrm>
          <a:prstGeom prst="rect">
            <a:avLst/>
          </a:prstGeom>
          <a:solidFill>
            <a:srgbClr val="263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8720" y="4992624"/>
            <a:ext cx="262533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>
                <a:solidFill>
                  <a:srgbClr val="5B8DEF"/>
                </a:solidFill>
                <a:latin typeface="Inter SemiBold"/>
              </a:rPr>
              <a:t>✓  </a:t>
            </a:r>
            <a:r>
              <a:rPr sz="1100" b="0">
                <a:solidFill>
                  <a:srgbClr val="AEB9D6"/>
                </a:solidFill>
                <a:latin typeface="Inter"/>
              </a:rPr>
              <a:t>Les 7 chapitres complets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5376672"/>
            <a:ext cx="262533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>
                <a:solidFill>
                  <a:srgbClr val="5B8DEF"/>
                </a:solidFill>
                <a:latin typeface="Inter SemiBold"/>
              </a:rPr>
              <a:t>✓  </a:t>
            </a:r>
            <a:r>
              <a:rPr sz="1100" b="0">
                <a:solidFill>
                  <a:srgbClr val="AEB9D6"/>
                </a:solidFill>
                <a:latin typeface="Inter"/>
              </a:rPr>
              <a:t>L'algorithme &amp; la stratégie contenu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5760720"/>
            <a:ext cx="262533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>
                <a:solidFill>
                  <a:srgbClr val="5B8DEF"/>
                </a:solidFill>
                <a:latin typeface="Inter SemiBold"/>
              </a:rPr>
              <a:t>✓  </a:t>
            </a:r>
            <a:r>
              <a:rPr sz="1100" b="0">
                <a:solidFill>
                  <a:srgbClr val="AEB9D6"/>
                </a:solidFill>
                <a:latin typeface="Inter"/>
              </a:rPr>
              <a:t>Pour démarrer seul, à ton rythme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54133" y="1719072"/>
            <a:ext cx="3283701" cy="4553712"/>
          </a:xfrm>
          <a:prstGeom prst="roundRect">
            <a:avLst>
              <a:gd name="adj" fmla="val 4455"/>
            </a:avLst>
          </a:prstGeom>
          <a:solidFill>
            <a:srgbClr val="1A2440"/>
          </a:solidFill>
          <a:ln w="13970">
            <a:solidFill>
              <a:srgbClr val="F6B43C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090144" y="1719072"/>
            <a:ext cx="2011680" cy="36576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6B43C"/>
              </a:gs>
              <a:gs pos="100000">
                <a:srgbClr val="FFD36E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90144" y="1719072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0" spc="100">
                <a:solidFill>
                  <a:srgbClr val="1A1206"/>
                </a:solidFill>
                <a:latin typeface="Inter SemiBold"/>
              </a:rPr>
              <a:t>LE PLUS POPULAIRE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766800" y="2286000"/>
            <a:ext cx="658368" cy="658368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6B43C"/>
              </a:gs>
              <a:gs pos="100000">
                <a:srgbClr val="FFD36E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FFD36E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mage-18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2248" y="2441448"/>
            <a:ext cx="347471" cy="347471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637013" y="3090672"/>
            <a:ext cx="291794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 spc="100">
                <a:gradFill rotWithShape="1">
                  <a:gsLst>
                    <a:gs pos="0">
                      <a:srgbClr val="F6B43C"/>
                    </a:gs>
                    <a:gs pos="100000">
                      <a:srgbClr val="FFD36E"/>
                    </a:gs>
                  </a:gsLst>
                  <a:lin ang="0" scaled="1"/>
                </a:gradFill>
                <a:latin typeface="Montserrat Bold"/>
              </a:rPr>
              <a:t>LE PACK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28453" y="3438144"/>
            <a:ext cx="273506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6000"/>
              </a:lnSpc>
            </a:pPr>
            <a:r>
              <a:rPr sz="1100" b="0">
                <a:solidFill>
                  <a:srgbClr val="AEB9D6"/>
                </a:solidFill>
                <a:latin typeface="Inter"/>
              </a:rPr>
              <a:t>Guide + Formation Produits Digitaux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37013" y="3986784"/>
            <a:ext cx="291794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300" b="0">
                <a:gradFill rotWithShape="1">
                  <a:gsLst>
                    <a:gs pos="0">
                      <a:srgbClr val="F6B43C"/>
                    </a:gs>
                    <a:gs pos="100000">
                      <a:srgbClr val="FFD36E"/>
                    </a:gs>
                  </a:gsLst>
                  <a:lin ang="5400000" scaled="1"/>
                </a:gradFill>
                <a:latin typeface="Montserrat Black"/>
              </a:rPr>
              <a:t>14 900 </a:t>
            </a:r>
            <a:r>
              <a:rPr sz="1500" b="0">
                <a:solidFill>
                  <a:srgbClr val="AEB9D6"/>
                </a:solidFill>
                <a:latin typeface="Montserrat Bold"/>
              </a:rPr>
              <a:t>FCFA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37013" y="4498848"/>
            <a:ext cx="291794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 spc="200">
                <a:solidFill>
                  <a:srgbClr val="7E8AAC"/>
                </a:solidFill>
                <a:latin typeface="Inter SemiBold"/>
              </a:rPr>
              <a:t>PRIX LIVE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911333" y="4846320"/>
            <a:ext cx="2369301" cy="10972"/>
          </a:xfrm>
          <a:prstGeom prst="rect">
            <a:avLst/>
          </a:prstGeom>
          <a:solidFill>
            <a:srgbClr val="263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01605" y="5010912"/>
            <a:ext cx="262533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>
                <a:solidFill>
                  <a:srgbClr val="F6B43C"/>
                </a:solidFill>
                <a:latin typeface="Inter SemiBold"/>
              </a:rPr>
              <a:t>✓  </a:t>
            </a:r>
            <a:r>
              <a:rPr sz="1100" b="0">
                <a:solidFill>
                  <a:srgbClr val="AEB9D6"/>
                </a:solidFill>
                <a:latin typeface="Inter"/>
              </a:rPr>
              <a:t>Tout le guide inclus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1605" y="5394960"/>
            <a:ext cx="262533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>
                <a:solidFill>
                  <a:srgbClr val="F6B43C"/>
                </a:solidFill>
                <a:latin typeface="Inter SemiBold"/>
              </a:rPr>
              <a:t>✓  </a:t>
            </a:r>
            <a:r>
              <a:rPr sz="1100" b="0">
                <a:solidFill>
                  <a:srgbClr val="AEB9D6"/>
                </a:solidFill>
                <a:latin typeface="Inter"/>
              </a:rPr>
              <a:t>Créer &amp; vendre tes produits digitaux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01605" y="5779008"/>
            <a:ext cx="262533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>
                <a:solidFill>
                  <a:srgbClr val="F6B43C"/>
                </a:solidFill>
                <a:latin typeface="Inter SemiBold"/>
              </a:rPr>
              <a:t>✓  </a:t>
            </a:r>
            <a:r>
              <a:rPr sz="1100" b="0">
                <a:solidFill>
                  <a:srgbClr val="AEB9D6"/>
                </a:solidFill>
                <a:latin typeface="Inter"/>
              </a:rPr>
              <a:t>Le meilleur rapport valeur / prix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67019" y="1847088"/>
            <a:ext cx="3283701" cy="4389120"/>
          </a:xfrm>
          <a:prstGeom prst="roundRect">
            <a:avLst>
              <a:gd name="adj" fmla="val 4455"/>
            </a:avLst>
          </a:prstGeom>
          <a:solidFill>
            <a:srgbClr val="151D33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9379686" y="2267712"/>
            <a:ext cx="658368" cy="658368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31D7E6"/>
              </a:gs>
              <a:gs pos="100000">
                <a:srgbClr val="5B8DEF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5B8DEF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image-1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35134" y="2423160"/>
            <a:ext cx="347471" cy="347471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8249899" y="3072384"/>
            <a:ext cx="291794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 spc="100">
                <a:gradFill rotWithShape="1">
                  <a:gsLst>
                    <a:gs pos="0">
                      <a:srgbClr val="31D7E6"/>
                    </a:gs>
                    <a:gs pos="100000">
                      <a:srgbClr val="5B8DEF"/>
                    </a:gs>
                  </a:gsLst>
                  <a:lin ang="0" scaled="1"/>
                </a:gradFill>
                <a:latin typeface="Montserrat Bold"/>
              </a:rPr>
              <a:t>ACCOMPAGNEMENT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41339" y="3419856"/>
            <a:ext cx="273506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6000"/>
              </a:lnSpc>
            </a:pPr>
            <a:r>
              <a:rPr sz="1100" b="0">
                <a:solidFill>
                  <a:srgbClr val="AEB9D6"/>
                </a:solidFill>
                <a:latin typeface="Inter"/>
              </a:rPr>
              <a:t>Coaching contenu + monétisation (1-to-1)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49899" y="3968496"/>
            <a:ext cx="291794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300" b="0">
                <a:gradFill rotWithShape="1">
                  <a:gsLst>
                    <a:gs pos="0">
                      <a:srgbClr val="31D7E6"/>
                    </a:gs>
                    <a:gs pos="100000">
                      <a:srgbClr val="5B8DEF"/>
                    </a:gs>
                  </a:gsLst>
                  <a:lin ang="5400000" scaled="1"/>
                </a:gradFill>
                <a:latin typeface="Montserrat Black"/>
              </a:rPr>
              <a:t>99 </a:t>
            </a:r>
            <a:r>
              <a:rPr sz="1500" b="0">
                <a:solidFill>
                  <a:srgbClr val="AEB9D6"/>
                </a:solidFill>
                <a:latin typeface="Montserrat Bold"/>
              </a:rPr>
              <a:t>$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49899" y="4480560"/>
            <a:ext cx="291794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 spc="200">
                <a:solidFill>
                  <a:srgbClr val="7E8AAC"/>
                </a:solidFill>
                <a:latin typeface="Inter SemiBold"/>
              </a:rPr>
              <a:t>PRIX LIVE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524219" y="4828031"/>
            <a:ext cx="2369301" cy="10972"/>
          </a:xfrm>
          <a:prstGeom prst="rect">
            <a:avLst/>
          </a:prstGeom>
          <a:solidFill>
            <a:srgbClr val="263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414491" y="4992624"/>
            <a:ext cx="262533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>
                <a:solidFill>
                  <a:srgbClr val="31D7E6"/>
                </a:solidFill>
                <a:latin typeface="Inter SemiBold"/>
              </a:rPr>
              <a:t>✓  </a:t>
            </a:r>
            <a:r>
              <a:rPr sz="1100" b="0">
                <a:solidFill>
                  <a:srgbClr val="AEB9D6"/>
                </a:solidFill>
                <a:latin typeface="Inter"/>
              </a:rPr>
              <a:t>On travaille ensemble, en direct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14491" y="5376672"/>
            <a:ext cx="262533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>
                <a:solidFill>
                  <a:srgbClr val="31D7E6"/>
                </a:solidFill>
                <a:latin typeface="Inter SemiBold"/>
              </a:rPr>
              <a:t>✓  </a:t>
            </a:r>
            <a:r>
              <a:rPr sz="1100" b="0">
                <a:solidFill>
                  <a:srgbClr val="AEB9D6"/>
                </a:solidFill>
                <a:latin typeface="Inter"/>
              </a:rPr>
              <a:t>Déblocage de page &amp; config guidée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14491" y="5760720"/>
            <a:ext cx="262533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>
                <a:solidFill>
                  <a:srgbClr val="31D7E6"/>
                </a:solidFill>
                <a:latin typeface="Inter SemiBold"/>
              </a:rPr>
              <a:t>✓  </a:t>
            </a:r>
            <a:r>
              <a:rPr sz="1100" b="0">
                <a:solidFill>
                  <a:srgbClr val="AEB9D6"/>
                </a:solidFill>
                <a:latin typeface="Inter"/>
              </a:rPr>
              <a:t>Places très limitées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124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220">
                <a:solidFill>
                  <a:srgbClr val="7E8AAC"/>
                </a:solidFill>
                <a:latin typeface="Inter SemiBold"/>
              </a:rPr>
              <a:t>KEVIN CHRIS DIGITAL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521921" y="643737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50">
                <a:solidFill>
                  <a:srgbClr val="7E8AAC"/>
                </a:solidFill>
                <a:latin typeface="Inter SemiBold"/>
              </a:rPr>
              <a:t>18 / 20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41248" y="6364224"/>
            <a:ext cx="10509473" cy="10972"/>
          </a:xfrm>
          <a:prstGeom prst="rect">
            <a:avLst/>
          </a:prstGeom>
          <a:solidFill>
            <a:srgbClr val="263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gradFill rotWithShape="1">
            <a:gsLst>
              <a:gs pos="0">
                <a:srgbClr val="0E1426"/>
              </a:gs>
              <a:gs pos="55000">
                <a:srgbClr val="0A0E1A"/>
              </a:gs>
              <a:gs pos="100000">
                <a:srgbClr val="070A12"/>
              </a:gs>
            </a:gsLst>
            <a:lin ang="66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61120" y="-3108960"/>
            <a:ext cx="5852160" cy="5852160"/>
          </a:xfrm>
          <a:prstGeom prst="ellipse">
            <a:avLst/>
          </a:prstGeom>
          <a:gradFill rotWithShape="1">
            <a:gsLst>
              <a:gs pos="0">
                <a:srgbClr val="3DDC97">
                  <a:alpha val="22000"/>
                </a:srgbClr>
              </a:gs>
              <a:gs pos="100000">
                <a:srgbClr val="3DDC9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3108960" y="3840479"/>
            <a:ext cx="6217920" cy="6217920"/>
          </a:xfrm>
          <a:prstGeom prst="ellipse">
            <a:avLst/>
          </a:prstGeom>
          <a:gradFill rotWithShape="1">
            <a:gsLst>
              <a:gs pos="0">
                <a:srgbClr val="9B6DFF">
                  <a:alpha val="26000"/>
                </a:srgbClr>
              </a:gs>
              <a:gs pos="100000">
                <a:srgbClr val="9B6D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8" y="589788"/>
            <a:ext cx="310896" cy="118872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DDC97"/>
              </a:gs>
              <a:gs pos="100000">
                <a:srgbClr val="31D7E6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98448" y="502919"/>
            <a:ext cx="7315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300">
                <a:gradFill rotWithShape="1">
                  <a:gsLst>
                    <a:gs pos="0">
                      <a:srgbClr val="3DDC97"/>
                    </a:gs>
                    <a:gs pos="100000">
                      <a:srgbClr val="31D7E6"/>
                    </a:gs>
                  </a:gsLst>
                  <a:lin ang="0" scaled="1"/>
                </a:gradFill>
                <a:latin typeface="Montserrat Bold"/>
              </a:rPr>
              <a:t>ILS L'ONT DÉJÀ FAIT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896112"/>
            <a:ext cx="1050947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>
                <a:solidFill>
                  <a:srgbClr val="F4F7FF"/>
                </a:solidFill>
                <a:latin typeface="Montserrat ExtraBold"/>
              </a:rPr>
              <a:t>Des chiffres réels de la boutique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1499616"/>
            <a:ext cx="1050947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>
                <a:solidFill>
                  <a:srgbClr val="7E8AAC"/>
                </a:solidFill>
                <a:latin typeface="Inter"/>
              </a:rPr>
              <a:t>Kevin Chris Digital — résultats vérifiables.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240280"/>
            <a:ext cx="2394196" cy="2057400"/>
          </a:xfrm>
          <a:prstGeom prst="roundRect">
            <a:avLst>
              <a:gd name="adj" fmla="val 7111"/>
            </a:avLst>
          </a:prstGeom>
          <a:solidFill>
            <a:srgbClr val="1A2440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152144" y="2551176"/>
            <a:ext cx="457200" cy="73152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5B8DEF"/>
              </a:gs>
              <a:gs pos="100000">
                <a:srgbClr val="9B6D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" y="2807208"/>
            <a:ext cx="1845556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600" b="0">
                <a:gradFill rotWithShape="1">
                  <a:gsLst>
                    <a:gs pos="0">
                      <a:srgbClr val="5B8DEF"/>
                    </a:gs>
                    <a:gs pos="100000">
                      <a:srgbClr val="9B6DFF"/>
                    </a:gs>
                  </a:gsLst>
                  <a:lin ang="5400000" scaled="1"/>
                </a:gradFill>
                <a:latin typeface="Montserrat Black"/>
              </a:rPr>
              <a:t>400k+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52144" y="3721608"/>
            <a:ext cx="1845556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AEB9D6"/>
                </a:solidFill>
                <a:latin typeface="Inter Medium"/>
              </a:rPr>
              <a:t>abonnés sur les réseaux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46340" y="2240280"/>
            <a:ext cx="2394196" cy="2057400"/>
          </a:xfrm>
          <a:prstGeom prst="roundRect">
            <a:avLst>
              <a:gd name="adj" fmla="val 7111"/>
            </a:avLst>
          </a:prstGeom>
          <a:solidFill>
            <a:srgbClr val="1A2440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857236" y="2551176"/>
            <a:ext cx="457200" cy="73152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6B43C"/>
              </a:gs>
              <a:gs pos="100000">
                <a:srgbClr val="FFD36E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20660" y="2807208"/>
            <a:ext cx="1845556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600" b="0">
                <a:gradFill rotWithShape="1">
                  <a:gsLst>
                    <a:gs pos="0">
                      <a:srgbClr val="F6B43C"/>
                    </a:gs>
                    <a:gs pos="100000">
                      <a:srgbClr val="FFD36E"/>
                    </a:gs>
                  </a:gsLst>
                  <a:lin ang="5400000" scaled="1"/>
                </a:gradFill>
                <a:latin typeface="Montserrat Black"/>
              </a:rPr>
              <a:t>364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57236" y="3721608"/>
            <a:ext cx="1845556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AEB9D6"/>
                </a:solidFill>
                <a:latin typeface="Inter Medium"/>
              </a:rPr>
              <a:t>créateurs ont pris le guide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51432" y="2240280"/>
            <a:ext cx="2394196" cy="2057400"/>
          </a:xfrm>
          <a:prstGeom prst="roundRect">
            <a:avLst>
              <a:gd name="adj" fmla="val 7111"/>
            </a:avLst>
          </a:prstGeom>
          <a:solidFill>
            <a:srgbClr val="1A2440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62328" y="2551176"/>
            <a:ext cx="457200" cy="73152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1D7E6"/>
              </a:gs>
              <a:gs pos="100000">
                <a:srgbClr val="5B8DE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25752" y="2807208"/>
            <a:ext cx="1845556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600" b="0">
                <a:gradFill rotWithShape="1">
                  <a:gsLst>
                    <a:gs pos="0">
                      <a:srgbClr val="31D7E6"/>
                    </a:gs>
                    <a:gs pos="100000">
                      <a:srgbClr val="5B8DEF"/>
                    </a:gs>
                  </a:gsLst>
                  <a:lin ang="5400000" scaled="1"/>
                </a:gradFill>
                <a:latin typeface="Montserrat Black"/>
              </a:rPr>
              <a:t>41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62328" y="3721608"/>
            <a:ext cx="1845556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AEB9D6"/>
                </a:solidFill>
                <a:latin typeface="Inter Medium"/>
              </a:rPr>
              <a:t>ont choisi le pack complet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56525" y="2240280"/>
            <a:ext cx="2394196" cy="2057400"/>
          </a:xfrm>
          <a:prstGeom prst="roundRect">
            <a:avLst>
              <a:gd name="adj" fmla="val 7111"/>
            </a:avLst>
          </a:prstGeom>
          <a:solidFill>
            <a:srgbClr val="1A2440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267421" y="2551176"/>
            <a:ext cx="457200" cy="73152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DDC97"/>
              </a:gs>
              <a:gs pos="100000">
                <a:srgbClr val="31D7E6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30845" y="2807208"/>
            <a:ext cx="1845556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600" b="0">
                <a:gradFill rotWithShape="1">
                  <a:gsLst>
                    <a:gs pos="0">
                      <a:srgbClr val="3DDC97"/>
                    </a:gs>
                    <a:gs pos="100000">
                      <a:srgbClr val="31D7E6"/>
                    </a:gs>
                  </a:gsLst>
                  <a:lin ang="5400000" scaled="1"/>
                </a:gradFill>
                <a:latin typeface="Montserrat Black"/>
              </a:rPr>
              <a:t>100%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67421" y="3721608"/>
            <a:ext cx="1845556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AEB9D6"/>
                </a:solidFill>
                <a:latin typeface="Inter Medium"/>
              </a:rPr>
              <a:t>d'avis positifs sur le guide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41248" y="4709160"/>
            <a:ext cx="10509473" cy="1234440"/>
          </a:xfrm>
          <a:prstGeom prst="roundRect">
            <a:avLst>
              <a:gd name="adj" fmla="val 11851"/>
            </a:avLst>
          </a:prstGeom>
          <a:solidFill>
            <a:srgbClr val="151D33"/>
          </a:solidFill>
          <a:ln w="12700">
            <a:solidFill>
              <a:srgbClr val="2633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98448" y="4910328"/>
            <a:ext cx="731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800" b="0">
                <a:gradFill rotWithShape="1">
                  <a:gsLst>
                    <a:gs pos="0">
                      <a:srgbClr val="3DDC97"/>
                    </a:gs>
                    <a:gs pos="100000">
                      <a:srgbClr val="31D7E6"/>
                    </a:gs>
                  </a:gsLst>
                  <a:lin ang="5400000" scaled="1"/>
                </a:gradFill>
                <a:latin typeface="Montserrat Black"/>
              </a:rPr>
              <a:t>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29968" y="4928616"/>
            <a:ext cx="8954993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0">
                <a:solidFill>
                  <a:srgbClr val="F4F7FF"/>
                </a:solidFill>
                <a:latin typeface="Inter SemiBold"/>
              </a:rPr>
              <a:t>« Là où il y a une grande volonté, il ne peut pas y avoir de grandes difficultés. »  </a:t>
            </a:r>
            <a:r>
              <a:rPr sz="1300" b="0">
                <a:solidFill>
                  <a:srgbClr val="7E8AAC"/>
                </a:solidFill>
                <a:latin typeface="Inter"/>
              </a:rPr>
              <a:t>— Machiavel</a:t>
            </a:r>
          </a:p>
          <a:p>
            <a:pPr algn="l">
              <a:spcBef>
                <a:spcPts val="600"/>
              </a:spcBef>
            </a:pPr>
            <a:r>
              <a:rPr sz="1300" b="0">
                <a:solidFill>
                  <a:srgbClr val="AEB9D6"/>
                </a:solidFill>
                <a:latin typeface="Inter Medium"/>
              </a:rPr>
              <a:t>Depuis l'Afrique, j'encaisse tous les mois. Toi aussi, tu peux.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220">
                <a:solidFill>
                  <a:srgbClr val="7E8AAC"/>
                </a:solidFill>
                <a:latin typeface="Inter SemiBold"/>
              </a:rPr>
              <a:t>KEVIN CHRIS DIGITAL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21921" y="643737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50">
                <a:solidFill>
                  <a:srgbClr val="7E8AAC"/>
                </a:solidFill>
                <a:latin typeface="Inter SemiBold"/>
              </a:rPr>
              <a:t>19 / 20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41248" y="6364224"/>
            <a:ext cx="10509473" cy="10972"/>
          </a:xfrm>
          <a:prstGeom prst="rect">
            <a:avLst/>
          </a:prstGeom>
          <a:solidFill>
            <a:srgbClr val="263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gradFill rotWithShape="1">
            <a:gsLst>
              <a:gs pos="0">
                <a:srgbClr val="0E1426"/>
              </a:gs>
              <a:gs pos="55000">
                <a:srgbClr val="0A0E1A"/>
              </a:gs>
              <a:gs pos="100000">
                <a:srgbClr val="070A12"/>
              </a:gs>
            </a:gsLst>
            <a:lin ang="66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046720" y="-3931920"/>
            <a:ext cx="7315200" cy="7315200"/>
          </a:xfrm>
          <a:prstGeom prst="ellipse">
            <a:avLst/>
          </a:prstGeom>
          <a:gradFill rotWithShape="1">
            <a:gsLst>
              <a:gs pos="0">
                <a:srgbClr val="9B6DFF">
                  <a:alpha val="38000"/>
                </a:srgbClr>
              </a:gs>
              <a:gs pos="100000">
                <a:srgbClr val="9B6D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3931920" y="3383280"/>
            <a:ext cx="7315200" cy="7315200"/>
          </a:xfrm>
          <a:prstGeom prst="ellipse">
            <a:avLst/>
          </a:prstGeom>
          <a:gradFill rotWithShape="1">
            <a:gsLst>
              <a:gs pos="0">
                <a:srgbClr val="5B8DEF">
                  <a:alpha val="34000"/>
                </a:srgbClr>
              </a:gs>
              <a:gs pos="100000">
                <a:srgbClr val="5B8DE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503920" y="4206240"/>
            <a:ext cx="4023360" cy="4023360"/>
          </a:xfrm>
          <a:prstGeom prst="ellipse">
            <a:avLst/>
          </a:prstGeom>
          <a:gradFill rotWithShape="1">
            <a:gsLst>
              <a:gs pos="0">
                <a:srgbClr val="F6B43C">
                  <a:alpha val="16000"/>
                </a:srgbClr>
              </a:gs>
              <a:gs pos="100000">
                <a:srgbClr val="F6B43C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8" y="955547"/>
            <a:ext cx="310896" cy="118872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5B8DEF"/>
              </a:gs>
              <a:gs pos="100000">
                <a:srgbClr val="9B6D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98448" y="868680"/>
            <a:ext cx="7315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300">
                <a:gradFill rotWithShape="1">
                  <a:gsLst>
                    <a:gs pos="0">
                      <a:srgbClr val="5B8DEF"/>
                    </a:gs>
                    <a:gs pos="100000">
                      <a:srgbClr val="9B6DFF"/>
                    </a:gs>
                  </a:gsLst>
                  <a:lin ang="0" scaled="1"/>
                </a:gradFill>
                <a:latin typeface="Montserrat Bold"/>
              </a:rPr>
              <a:t>C'EST À TOI DE JOUER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1371600"/>
            <a:ext cx="10607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0">
                <a:solidFill>
                  <a:srgbClr val="F4F7FF"/>
                </a:solidFill>
                <a:latin typeface="Montserrat Black"/>
              </a:rPr>
              <a:t>Passe à l'action </a:t>
            </a:r>
            <a:r>
              <a:rPr sz="4800" b="0">
                <a:gradFill rotWithShape="1">
                  <a:gsLst>
                    <a:gs pos="0">
                      <a:srgbClr val="5B8DEF"/>
                    </a:gs>
                    <a:gs pos="100000">
                      <a:srgbClr val="9B6DFF"/>
                    </a:gs>
                  </a:gsLst>
                  <a:lin ang="0" scaled="1"/>
                </a:gradFill>
                <a:latin typeface="Montserrat Black"/>
              </a:rPr>
              <a:t>maintenant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468880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>
                <a:solidFill>
                  <a:srgbClr val="AEB9D6"/>
                </a:solidFill>
                <a:latin typeface="Inter"/>
              </a:rPr>
              <a:t>Tu as deux choix : continuer à publier sans résultats… ou appliquer la méthode et transformer Facebook en source de revenus.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" y="3611880"/>
            <a:ext cx="5071856" cy="1371600"/>
          </a:xfrm>
          <a:prstGeom prst="roundRect">
            <a:avLst>
              <a:gd name="adj" fmla="val 10666"/>
            </a:avLst>
          </a:prstGeom>
          <a:solidFill>
            <a:srgbClr val="1A2440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52144" y="3959352"/>
            <a:ext cx="676656" cy="676656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5B8DEF"/>
              </a:gs>
              <a:gs pos="100000">
                <a:srgbClr val="9B6DFF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9B6DFF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-20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7592" y="4114800"/>
            <a:ext cx="365759" cy="36575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029968" y="3886200"/>
            <a:ext cx="37002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F4F7FF"/>
                </a:solidFill>
                <a:latin typeface="Montserrat Bold"/>
              </a:rPr>
              <a:t>La boutique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29968" y="4361688"/>
            <a:ext cx="370025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gradFill rotWithShape="1">
                  <a:gsLst>
                    <a:gs pos="0">
                      <a:srgbClr val="5B8DEF"/>
                    </a:gs>
                    <a:gs pos="100000">
                      <a:srgbClr val="9B6DFF"/>
                    </a:gs>
                  </a:gsLst>
                  <a:lin ang="0" scaled="1"/>
                </a:gradFill>
                <a:latin typeface="Inter Medium"/>
              </a:rPr>
              <a:t>formation.kevinchrisdigital.com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78864" y="3611880"/>
            <a:ext cx="5071856" cy="1371600"/>
          </a:xfrm>
          <a:prstGeom prst="roundRect">
            <a:avLst>
              <a:gd name="adj" fmla="val 10666"/>
            </a:avLst>
          </a:prstGeom>
          <a:solidFill>
            <a:srgbClr val="1A2440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589760" y="3959352"/>
            <a:ext cx="676656" cy="676656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3DDC97"/>
              </a:gs>
              <a:gs pos="100000">
                <a:srgbClr val="31D7E6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31D7E6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image-6-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5208" y="4114800"/>
            <a:ext cx="365759" cy="36575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467584" y="3886200"/>
            <a:ext cx="37002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F4F7FF"/>
                </a:solidFill>
                <a:latin typeface="Montserrat Bold"/>
              </a:rPr>
              <a:t>Accompagnement perso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67584" y="4361688"/>
            <a:ext cx="370025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gradFill rotWithShape="1">
                  <a:gsLst>
                    <a:gs pos="0">
                      <a:srgbClr val="3DDC97"/>
                    </a:gs>
                    <a:gs pos="100000">
                      <a:srgbClr val="31D7E6"/>
                    </a:gs>
                  </a:gsLst>
                  <a:lin ang="0" scaled="1"/>
                </a:gradFill>
                <a:latin typeface="Inter Medium"/>
              </a:rPr>
              <a:t>wa.me/message/RKOEMXQRVJD7L1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5349240"/>
            <a:ext cx="1050947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F4F7FF"/>
                </a:solidFill>
                <a:latin typeface="Montserrat Bold"/>
              </a:rPr>
              <a:t>Merci d'avoir suivi cette masterclass — à toi de jouer.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07521" y="635508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0" spc="100">
                <a:solidFill>
                  <a:srgbClr val="7E8AAC"/>
                </a:solidFill>
                <a:latin typeface="Inter SemiBold"/>
              </a:rPr>
              <a:t>© Kevin Chris Digital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