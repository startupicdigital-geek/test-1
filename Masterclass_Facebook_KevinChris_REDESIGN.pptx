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69" cy="6858000" type="screen4x3"/>
  <p:notesSz cx="6858000" cy="9144000"/>
  <p:embeddedFontLst>
    <p:embeddedFont>
      <p:font typeface="Montserrat"/>
      <p:regular r:id="rIdFont1"/>
    </p:embeddedFont>
    <p:embeddedFont>
      <p:font typeface="Montserrat Medium"/>
      <p:regular r:id="rIdFont2"/>
    </p:embeddedFont>
    <p:embeddedFont>
      <p:font typeface="Montserrat SemiBold"/>
      <p:regular r:id="rIdFont3"/>
    </p:embeddedFont>
    <p:embeddedFont>
      <p:font typeface="Montserrat Bold"/>
      <p:regular r:id="rIdFont4"/>
    </p:embeddedFont>
    <p:embeddedFont>
      <p:font typeface="Montserrat ExtraBold"/>
      <p:regular r:id="rIdFont5"/>
    </p:embeddedFont>
    <p:embeddedFont>
      <p:font typeface="Montserrat Black"/>
      <p:regular r:id="rIdFont6"/>
    </p:embeddedFont>
    <p:embeddedFont>
      <p:font typeface="Inter"/>
      <p:regular r:id="rIdFont7"/>
    </p:embeddedFont>
    <p:embeddedFont>
      <p:font typeface="Inter Medium"/>
      <p:regular r:id="rIdFont8"/>
    </p:embeddedFont>
    <p:embeddedFont>
      <p:font typeface="Inter SemiBold"/>
      <p:regular r:id="rIdFont9"/>
    </p:embeddedFont>
    <p:embeddedFont>
      <p:font typeface="Inter Bold"/>
      <p:regular r:id="rIdFont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Relationship Id="rIdFont8" Type="http://schemas.openxmlformats.org/officeDocument/2006/relationships/font" Target="fonts/font8.fntdata"/><Relationship Id="rIdFont9" Type="http://schemas.openxmlformats.org/officeDocument/2006/relationships/font" Target="fonts/font9.fntdata"/><Relationship Id="rIdFont10" Type="http://schemas.openxmlformats.org/officeDocument/2006/relationships/font" Target="fonts/font1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d'ouverture. Te présenter en 30 secondes, annoncer la promesse : à la fin de ce live, ils sauront comment Facebook paie et comment encaisser même depuis un pays inéligible. Annoncer qu'une offre spéciale les attend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carte du voyage. Insister : 80% valeur, le reste c'est pour ceux qui veulent aller plus vite avec mon accompagnement.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Raconte ça avec émotion, c'est ton arme la plus forte. Le public doit se reconnaître. Termine sur : si moi j'ai réussi en partant de cette galère, toi tu peux aller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partie 1. Le test 1-2% est le 'aha moment' du public. Insiste sur le HOOK. Donne un exemple concret tiré de tes propres vidéos.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 sur deux pièges concrets : (1) la liaison FB-IG qui fait perdre des pages, (2) ne jamais sponsoriser la page qu'on veut monétiser.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commentaire ou un partage vaut 10 fois un like. Explique la polarisation avec un exemple. Rappelle : la régularité protège aussi ton RPM dans les pays inéligibles.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Création SANS IA. Martèle que l'authenticité est non-négociable, surtout en Afrique francophone : visage, langue, vécu. Donne un exemple d'une de tes vidéos 'brutes' qui a cartonné.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Création AVEC l'IA. Montre un prompt en direct si possible. Rassure : l'IA ne remplace pas leur personnalité, elle fait gagner du temps. Pont naturel vers la valeur du pack (prompts &amp; process détaillés).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CMP n'accepte pas étoiles, abonnements ni contenu de marque. Précise que des programmes arrivent : Storefront, affiliation Amazon.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compte de règlement est le pont vers cette partie inéligible. C'est là que 90% des créateurs des pays inéligibles tombent.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TON angle différenciant, le contenu que personne d'autre n'enseigne aussi clairement. Reste sur la logique sans transformer le live en tuto technique : le détail pas-à-pas, c'est le rôle du guide et des vidéos.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donne pas tout le détail de la procédure de recours ici — c'est précisément la valeur du guide et de l'accompagnement. Dis qu'elle existe, qu'elle marche, et que tu la détailles pas-à-pas dans le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la vente : tu as commencé en vendant des laptops avec moins de 1000 abonnés. Le digital amplifie tout. C'est le pont naturel vers ton offre.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Bascule douce vers la vente. Rappelle que le guide seul sous-estime l'offre : c'est guide + vidéos + communauté. Enchaîne directement sur les 3 offres.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 les 3 paliers dans l'ordre. Insiste sur le PACK comme évidence (pour quelques milliers de plus, le double de valeur). L'accompagnement crée la rareté. Remplace [PRIX LIVE] par tes chiffres avant dimanche.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Chiffres réels au moment de la prépa : à actualiser si besoin avant dimanche. Raconte un cas client précis de déblocage de page si tu en as un sous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Preuve sociale par les pairs. Cite 1-2 cas précis parmi ces créateurs (résultat obtenu) avant d'enchaîner sur l'offre. À FAIRE : remplacer les avatars à initiales par les vraies photos avant le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 énergique. Rappelle l'offre spéciale et la rareté de l'accompagnement. Ouvre le Q&amp;A. Donne le lien WhatsApp en clair pour ceux qui veulent l'accompagnement.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0880" y="2011680"/>
            <a:ext cx="8595360" cy="8595360"/>
          </a:xfrm>
          <a:prstGeom prst="ellipse">
            <a:avLst/>
          </a:prstGeom>
          <a:gradFill rotWithShape="1">
            <a:gsLst>
              <a:gs pos="0">
                <a:srgbClr val="9B6DFF">
                  <a:alpha val="42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-3017520"/>
            <a:ext cx="6583680" cy="6583680"/>
          </a:xfrm>
          <a:prstGeom prst="ellipse">
            <a:avLst/>
          </a:prstGeom>
          <a:gradFill rotWithShape="1">
            <a:gsLst>
              <a:gs pos="0">
                <a:srgbClr val="5B8DEF">
                  <a:alpha val="3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-1554480"/>
            <a:ext cx="4389120" cy="4389120"/>
          </a:xfrm>
          <a:prstGeom prst="ellipse">
            <a:avLst/>
          </a:prstGeom>
          <a:gradFill rotWithShape="1">
            <a:gsLst>
              <a:gs pos="0">
                <a:srgbClr val="31D7E6">
                  <a:alpha val="20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932688"/>
            <a:ext cx="2011680" cy="18288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12013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033271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MASTERCLASS LIVE  ·  CRÉATION &amp; MONÉTISATION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0">
                <a:solidFill>
                  <a:srgbClr val="F4F7FF"/>
                </a:solidFill>
                <a:latin typeface="Montserrat Black"/>
              </a:rPr>
              <a:t>Créer du contenu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5800" b="0">
                <a:solidFill>
                  <a:srgbClr val="F4F7FF"/>
                </a:solidFill>
                <a:latin typeface="Montserrat Black"/>
              </a:rPr>
              <a:t>&amp; monétiser </a:t>
            </a:r>
            <a:r>
              <a:rPr sz="58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lack"/>
              </a:rPr>
              <a:t>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4164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>
                <a:solidFill>
                  <a:srgbClr val="AEB9D6"/>
                </a:solidFill>
                <a:latin typeface="Inter"/>
              </a:rPr>
              <a:t>La méthode claire, simple et adaptée à l'Afrique — même si tu pars de zéro, et même si ton pays n'est pas encore éligible.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29200"/>
            <a:ext cx="5852160" cy="1078992"/>
          </a:xfrm>
          <a:prstGeom prst="roundRect">
            <a:avLst>
              <a:gd name="adj" fmla="val 1355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5248656"/>
            <a:ext cx="6400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5394960"/>
            <a:ext cx="347471" cy="3474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0240" y="5175504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>
                <a:solidFill>
                  <a:srgbClr val="F4F7FF"/>
                </a:solidFill>
                <a:latin typeface="Montserrat Bold"/>
              </a:rPr>
              <a:t>Kevin Chris Atchof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100" b="0">
                <a:solidFill>
                  <a:srgbClr val="AEB9D6"/>
                </a:solidFill>
                <a:latin typeface="Inter"/>
              </a:rPr>
              <a:t>Le créateur le plus suivi d'Afrique francophone sur la monétisation 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7521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spc="100">
                <a:solidFill>
                  <a:srgbClr val="7E8AAC"/>
                </a:solidFill>
                <a:latin typeface="Inter SemiBold"/>
              </a:rPr>
              <a:t>© Kevin Chris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-32004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657599"/>
            <a:ext cx="6583680" cy="6583680"/>
          </a:xfrm>
          <a:prstGeom prst="ellipse">
            <a:avLst/>
          </a:prstGeom>
          <a:gradFill rotWithShape="1">
            <a:gsLst>
              <a:gs pos="0">
                <a:srgbClr val="9B6DFF">
                  <a:alpha val="30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608076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521207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AU PROGRAMME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914400"/>
            <a:ext cx="1050947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F4F7FF"/>
                </a:solidFill>
                <a:latin typeface="Montserrat ExtraBold"/>
              </a:rPr>
              <a:t>6 étapes pour passer de zéro aux revenus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17904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Environ 1h45 — pose tes questions à la fin de chaque partie.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57984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1909" y="3072384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2432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569463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3182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Comprendre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39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L'algorithme et ce que Meta veut vraiment de toi.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4133" y="2157984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795" y="3072384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8453" y="2432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13" y="2569463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28453" y="3182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Créer du contenu qui performe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8453" y="3639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Niche, formats, régularité, le HOOK qui décolle.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7019" y="2157984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7681" y="3072384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1339" y="2432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-2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499" y="2569463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41339" y="3182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Les programmes de monétisation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339" y="3639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Le CMP 2025 et les conditions d'éligibilité.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443983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1909" y="5358383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5568" y="4718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-2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4855464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568" y="5468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Monétiser depuis un pays inéligible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925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La stratégie de contournement 100% légale.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4133" y="4443983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4795" y="5358383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28453" y="4718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-2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613" y="4855464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28453" y="5468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Gérer les restrictions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8453" y="5925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Éviter les blocages et sécuriser ta page.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7019" y="4443983"/>
            <a:ext cx="3283701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7681" y="5358383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5200" b="0">
                <a:solidFill>
                  <a:srgbClr val="1E2A4A"/>
                </a:solidFill>
                <a:latin typeface="Montserrat Black"/>
              </a:rPr>
              <a:t>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41339" y="4718303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-2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499" y="4855464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41339" y="5468112"/>
            <a:ext cx="273506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F4F7FF"/>
                </a:solidFill>
                <a:latin typeface="Montserrat Bold"/>
              </a:rPr>
              <a:t>Diversifier tes revenus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1339" y="5925312"/>
            <a:ext cx="273506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Vendre tes propres produits avec ta page.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02 / 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3657600"/>
            <a:ext cx="6583680" cy="6583680"/>
          </a:xfrm>
          <a:prstGeom prst="ellipse">
            <a:avLst/>
          </a:prstGeom>
          <a:gradFill rotWithShape="1">
            <a:gsLst>
              <a:gs pos="0">
                <a:srgbClr val="9B6DFF">
                  <a:alpha val="30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108960" y="41148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608076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521207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MON HISTOIRE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914400"/>
            <a:ext cx="105094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4F7FF"/>
                </a:solidFill>
                <a:latin typeface="Montserrat ExtraBold"/>
              </a:rPr>
              <a:t>J'ai vécu exactement ce que tu 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071856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2075688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203704"/>
            <a:ext cx="310896" cy="3108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792224" y="21488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21488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spc="5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07208"/>
            <a:ext cx="45232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Le décollage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46120"/>
            <a:ext cx="4523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Deux vidéos (clonage WhatsApp + LuzIA) propulsent ma page de 2 000 à plus de 12 000 abonnés. Des millions de vues.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864" y="1783080"/>
            <a:ext cx="5071856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184" y="2075688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00" y="2203704"/>
            <a:ext cx="310896" cy="3108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229840" y="21488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9840" y="21488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spc="5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L'ERREUR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184" y="2807208"/>
            <a:ext cx="45232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L'erreur fatale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184" y="3246120"/>
            <a:ext cx="4523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Depuis le Cameroun (pays inéligible), je configure ma monétisation avec mes vraies infos. Ma page est bloquée.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087368"/>
            <a:ext cx="5071856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15568" y="4379976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-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507992"/>
            <a:ext cx="310896" cy="31089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792224" y="44531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92224" y="44531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spc="5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Inter SemiBold"/>
              </a:rPr>
              <a:t>LE DÉSERT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111496"/>
            <a:ext cx="45232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La traversée du désert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550408"/>
            <a:ext cx="4523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« Tu as gâté ta page », me disaient les experts. J'ai cherché, je me suis formé, j'ai parlé à l'équipe Meta.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864" y="4087368"/>
            <a:ext cx="5071856" cy="1993392"/>
          </a:xfrm>
          <a:prstGeom prst="roundRect">
            <a:avLst>
              <a:gd name="adj" fmla="val 7339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53184" y="4379976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3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200" y="4507992"/>
            <a:ext cx="310896" cy="31089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229840" y="44531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9840" y="44531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spc="5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Inter SemiBold"/>
              </a:rPr>
              <a:t>MAI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184" y="5111496"/>
            <a:ext cx="45232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La renaissance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184" y="5550408"/>
            <a:ext cx="45232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Je résous le problème que personne ne savait régler. Aujourd'hui, j'aide des créateurs à débloquer leurs pages.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03 / 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5943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5B8DEF">
                  <a:alpha val="40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164592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9B6DFF">
                  <a:alpha val="1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-457200"/>
            <a:ext cx="64008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0" b="0">
                <a:solidFill>
                  <a:srgbClr val="111A30"/>
                </a:solidFill>
                <a:latin typeface="Montserrat Black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95728"/>
            <a:ext cx="1828800" cy="18288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8317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963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>
                <a:solidFill>
                  <a:srgbClr val="F4F7FF"/>
                </a:solidFill>
                <a:latin typeface="Montserrat Black"/>
              </a:rPr>
              <a:t>Comprendre Facebook avant de monétiser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365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EB9D6"/>
                </a:solidFill>
                <a:latin typeface="Inter"/>
              </a:rPr>
              <a:t>Tu ne peux pas gagner à un jeu dont tu ignores les règles.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2697480"/>
            <a:ext cx="1417320" cy="14173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8" y="3081528"/>
            <a:ext cx="649224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7432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657599"/>
            <a:ext cx="6583680" cy="6583680"/>
          </a:xfrm>
          <a:prstGeom prst="ellipse">
            <a:avLst/>
          </a:prstGeom>
          <a:gradFill rotWithShape="1">
            <a:gsLst>
              <a:gs pos="0">
                <a:srgbClr val="9B6DFF">
                  <a:alpha val="28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1 · COMPRENDRE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F4F7FF"/>
                </a:solidFill>
                <a:latin typeface="Montserrat ExtraBold"/>
              </a:rPr>
              <a:t>L'algorithme, c'est ton patron exigeant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Il ne paie pas celui qui travaille dur, mais celui qui attire l'attention — et respecte le règlement.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94560"/>
            <a:ext cx="5074920" cy="3703320"/>
          </a:xfrm>
          <a:prstGeom prst="roundRect">
            <a:avLst>
              <a:gd name="adj" fmla="val 3950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2523744"/>
            <a:ext cx="676656" cy="67665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679191"/>
            <a:ext cx="365759" cy="3657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265176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4F7FF"/>
                </a:solidFill>
                <a:latin typeface="Montserrat Bold"/>
              </a:rPr>
              <a:t>Le petit test de visibilité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2144" y="3584448"/>
            <a:ext cx="27432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3511296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AEB9D6"/>
                </a:solidFill>
                <a:latin typeface="Inter Medium"/>
              </a:rPr>
              <a:t>Facebook ne montre d'abord ton contenu qu'à 1–2 % de tes abonnés.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4" y="4361688"/>
            <a:ext cx="27432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4288536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AEB9D6"/>
                </a:solidFill>
                <a:latin typeface="Inter Medium"/>
              </a:rPr>
              <a:t>S'ils réagissent vite (likes, commentaires, partages, temps de visionnage) → ton contenu décolle.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" y="5138927"/>
            <a:ext cx="27432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5065776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AEB9D6"/>
                </a:solidFill>
                <a:latin typeface="Inter Medium"/>
              </a:rPr>
              <a:t>Sinon → l'algorithme l'enterre, et personne d'autre ne le verra.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194560"/>
            <a:ext cx="5068793" cy="1133856"/>
          </a:xfrm>
          <a:prstGeom prst="roundRect">
            <a:avLst>
              <a:gd name="adj" fmla="val 1290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2468879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596896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51192" y="2432304"/>
            <a:ext cx="38800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Montserrat Bold"/>
              </a:rPr>
              <a:t>Engagement immédiat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798064"/>
            <a:ext cx="38617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Les réactions dans la 1re heure décident de tout. D'où l'importance du HOOK : tes 3 premières secondes.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3474720"/>
            <a:ext cx="5068793" cy="1133856"/>
          </a:xfrm>
          <a:prstGeom prst="roundRect">
            <a:avLst>
              <a:gd name="adj" fmla="val 1290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6248" y="3749039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5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3877055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1192" y="3712463"/>
            <a:ext cx="38800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Montserrat Bold"/>
              </a:rPr>
              <a:t>Temps passé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4078224"/>
            <a:ext cx="38617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Une vidéo regardée jusqu'au bout vaut plus que 5 likes rapides. Te liker toi-même ne sert à rien.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754879"/>
            <a:ext cx="5068793" cy="1133856"/>
          </a:xfrm>
          <a:prstGeom prst="roundRect">
            <a:avLst>
              <a:gd name="adj" fmla="val 1290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56248" y="5029199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5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5157215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51192" y="4992623"/>
            <a:ext cx="38800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Montserrat Bold"/>
              </a:rPr>
              <a:t>Régularité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5358383"/>
            <a:ext cx="38617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Quand tu disparais, l'algorithme t'oublie. Il récompense ceux qui nourrissent leur audience souvent.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05 / 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310896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108960" y="3840479"/>
            <a:ext cx="6217920" cy="6217920"/>
          </a:xfrm>
          <a:prstGeom prst="ellipse">
            <a:avLst/>
          </a:prstGeom>
          <a:gradFill rotWithShape="1">
            <a:gsLst>
              <a:gs pos="0">
                <a:srgbClr val="9B6DFF">
                  <a:alpha val="2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1 · COMPRENDRE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F4F7FF"/>
                </a:solidFill>
                <a:latin typeface="Montserrat ExtraBold"/>
              </a:rPr>
              <a:t>L'écosystème Meta : chaque app a un rôle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26464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7E8AAC"/>
                </a:solidFill>
                <a:latin typeface="Inter"/>
              </a:rPr>
              <a:t>Meta n'a pas créé ses apps pour te divertir, mais pour capter et garder ton audience. Avance progressivement.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84831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359151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496311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2468879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63824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Ton point de départ. 80 % de mes efforts. Le réseau N°1 de la monétisation chez Meta.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8037" y="2084831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22357" y="2359151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517" y="2496311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35589" y="2468879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Instagram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2357" y="3163824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La vitrine visuelle. Les Reels circulent entre les deux — mais une restriction sur l'un affecte l'autre.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4827" y="2084831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9147" y="2359151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6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307" y="2496311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42379" y="2468879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9147" y="3163824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Là où tu transformes les likes en argent : la conversation privée qui convertit en client.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297679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4571999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6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4709159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28800" y="4681727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Messenger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376671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Ton assistant automatisé : chatbots et réponses auto (ex. ManyChat) pour répondre à 100 personnes à la fois.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8037" y="4297679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22357" y="4571999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6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9517" y="4709159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35589" y="4681727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Business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2357" y="5376671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Ton centre de contrôle : planifier, analyser, configurer la monétisation, résoudre les restrictions.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4827" y="4297679"/>
            <a:ext cx="3295893" cy="1938528"/>
          </a:xfrm>
          <a:prstGeom prst="roundRect">
            <a:avLst>
              <a:gd name="adj" fmla="val 7547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9147" y="4571999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-6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307" y="4709159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42379" y="4681727"/>
            <a:ext cx="210717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Meta 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9147" y="5376671"/>
            <a:ext cx="274725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La régie qui finance les créateurs. Mais ne sponsorise pas la page que tu veux monétiser.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06 / 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5943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9B6DFF">
                  <a:alpha val="40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B7185">
                  <a:alpha val="24000"/>
                </a:srgbClr>
              </a:gs>
              <a:gs pos="100000">
                <a:srgbClr val="FB7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164592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9B6DFF">
                  <a:alpha val="1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-457200"/>
            <a:ext cx="64008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0" b="0">
                <a:solidFill>
                  <a:srgbClr val="111A30"/>
                </a:solidFill>
                <a:latin typeface="Montserrat Black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95728"/>
            <a:ext cx="1828800" cy="18288"/>
          </a:xfrm>
          <a:prstGeom prst="rect">
            <a:avLst/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8317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963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>
                <a:solidFill>
                  <a:srgbClr val="F4F7FF"/>
                </a:solidFill>
                <a:latin typeface="Montserrat Black"/>
              </a:rPr>
              <a:t>Créer du contenu qui performe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365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EB9D6"/>
                </a:solidFill>
                <a:latin typeface="Inter"/>
              </a:rPr>
              <a:t>Le contenu est roi — mais seulement s'il sert l'algorithme.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2697480"/>
            <a:ext cx="1417320" cy="14173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8" y="3081528"/>
            <a:ext cx="649224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56032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9B6DFF">
                  <a:alpha val="2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2 · CRÉER DU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F4F7FF"/>
                </a:solidFill>
                <a:latin typeface="Montserrat ExtraBold"/>
              </a:rPr>
              <a:t>Niche rentable &amp; portée organique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70432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67712"/>
            <a:ext cx="347471" cy="3474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3392" y="2240280"/>
            <a:ext cx="370025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4F7FF"/>
                </a:solidFill>
                <a:latin typeface="Montserrat Bold"/>
              </a:rPr>
              <a:t>Choisir sa niche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63239"/>
            <a:ext cx="4340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Inter SemiBold"/>
              </a:rPr>
              <a:t>Au croisement de 3 cercles 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25296" y="3584448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3529584"/>
            <a:ext cx="3883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9D6"/>
                </a:solidFill>
                <a:latin typeface="Inter Medium"/>
              </a:rPr>
              <a:t>Ta passion / ton expertise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5296" y="4041648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" y="3986784"/>
            <a:ext cx="3883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9D6"/>
                </a:solidFill>
                <a:latin typeface="Inter Medium"/>
              </a:rPr>
              <a:t>Une demande réelle de l'audience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5296" y="4498848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64208" y="4443984"/>
            <a:ext cx="3883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EB9D6"/>
                </a:solidFill>
                <a:latin typeface="Inter Medium"/>
              </a:rPr>
              <a:t>Un potentiel de monétisation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7008" y="5010912"/>
            <a:ext cx="4340336" cy="12801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5212080"/>
            <a:ext cx="4340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Une niche claire = une audience fidèle = un algorithme qui comprend exactement à qui te montrer.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864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8048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-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496" y="2267712"/>
            <a:ext cx="347471" cy="34747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31008" y="2167128"/>
            <a:ext cx="37002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F4F7FF"/>
                </a:solidFill>
                <a:latin typeface="Montserrat Bold"/>
              </a:rPr>
              <a:t>Booster ta portée (gratuitement)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4624" y="3246120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5248" y="3182112"/>
            <a:ext cx="3928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Soigne ton HOOK — </a:t>
            </a:r>
            <a:r>
              <a:rPr sz="1300" b="0">
                <a:solidFill>
                  <a:srgbClr val="AEB9D6"/>
                </a:solidFill>
                <a:latin typeface="Inter"/>
              </a:rPr>
              <a:t>titre ou 3 premières secondes.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4624" y="3785615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5248" y="3721608"/>
            <a:ext cx="3928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Provoque le commentaire — </a:t>
            </a:r>
            <a:r>
              <a:rPr sz="1300" b="0">
                <a:solidFill>
                  <a:srgbClr val="AEB9D6"/>
                </a:solidFill>
                <a:latin typeface="Inter"/>
              </a:rPr>
              <a:t>polarise, pose une question.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4624" y="4325112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5248" y="4261104"/>
            <a:ext cx="3928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Vise le partage — </a:t>
            </a:r>
            <a:r>
              <a:rPr sz="1300" b="0">
                <a:solidFill>
                  <a:srgbClr val="AEB9D6"/>
                </a:solidFill>
                <a:latin typeface="Inter"/>
              </a:rPr>
              <a:t>un contenu utile lié à la sécurité se partage seul.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4624" y="4864607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5248" y="4800600"/>
            <a:ext cx="3928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Mise sur les Reels — </a:t>
            </a:r>
            <a:r>
              <a:rPr sz="1300" b="0">
                <a:solidFill>
                  <a:srgbClr val="AEB9D6"/>
                </a:solidFill>
                <a:latin typeface="Inter"/>
              </a:rPr>
              <a:t>c'est là que l'algorithme pousse la visibilité.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4624" y="5404103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5248" y="5340096"/>
            <a:ext cx="3928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4F7FF"/>
                </a:solidFill>
                <a:latin typeface="Inter SemiBold"/>
              </a:rPr>
              <a:t>Publie régulièrement — </a:t>
            </a:r>
            <a:r>
              <a:rPr sz="1300" b="0">
                <a:solidFill>
                  <a:srgbClr val="AEB9D6"/>
                </a:solidFill>
                <a:latin typeface="Inter"/>
              </a:rPr>
              <a:t>la constance bat la perfection.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08 / 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56032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B7185">
                  <a:alpha val="24000"/>
                </a:srgbClr>
              </a:gs>
              <a:gs pos="100000">
                <a:srgbClr val="FB7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F6B43C">
                  <a:alpha val="22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2 · CRÉER DU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4F7FF"/>
                </a:solidFill>
                <a:latin typeface="Montserrat ExtraBold"/>
              </a:rPr>
              <a:t>Créer du contenu SANS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L'authenticité brute : ton visage, ta voix, ton vécu. C'est le socle qui crée le lien — et la confiance qui vend.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66543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340863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468879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10512" y="2359151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Ton authenticité = ton avantage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017520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Montre ton visage, parle ta langue, partage ton vécu. La proximité crée la confiance qui vend.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864" y="2066543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3184" y="2340863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00" y="2468879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48128" y="2359151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Filme simplement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1472" y="3017520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Un smartphone, une bonne lumière, un son clair. Le message compte toujours plus que le matériel.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767327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5568" y="4041647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169663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10512" y="4059935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Raconte des histoires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718303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Pars d'un problème réel, montre ta galère, finis par la solution. L'histoire capte plus que le conseil.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64" y="3767327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3184" y="4041647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3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200" y="4169663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48128" y="4059935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Le terrain, ta mine d'idées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1472" y="4718303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Tes clients, tes échecs, l'actualité locale. Note chaque question qu'on te pose : c'est ton prochain post.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340096"/>
            <a:ext cx="10509473" cy="768096"/>
          </a:xfrm>
          <a:prstGeom prst="roundRect">
            <a:avLst>
              <a:gd name="adj" fmla="val 19047"/>
            </a:avLst>
          </a:prstGeom>
          <a:solidFill>
            <a:srgbClr val="1A2440"/>
          </a:solidFill>
          <a:ln w="15240">
            <a:solidFill>
              <a:srgbClr val="F6B43C"/>
            </a:solidFill>
          </a:ln>
          <a:effectLst>
            <a:outerShdw blurRad="228600" dist="101600" dir="5400000" rotWithShape="0">
              <a:srgbClr val="F6B43C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3856" y="5458968"/>
            <a:ext cx="530352" cy="53035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11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" y="5577840"/>
            <a:ext cx="292607" cy="2926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847088" y="5477256"/>
            <a:ext cx="9229313" cy="512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À retenir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180" b="0">
                <a:solidFill>
                  <a:srgbClr val="AEB9D6"/>
                </a:solidFill>
                <a:latin typeface="Inter"/>
              </a:rPr>
              <a:t>Sans authenticité, aucune technique ne tient. C'est ta personnalité qui transforme un spectateur en abonné fidèle.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09 /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27432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9B6DFF">
                  <a:alpha val="24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2 · CRÉER DU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4F7FF"/>
                </a:solidFill>
                <a:latin typeface="Montserrat ExtraBold"/>
              </a:rPr>
              <a:t>Créer du contenu AVEC 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L'IA ne te remplace pas — elle multiplie ta vitesse. Tu gardes ton authenticité, tu gagnes 10× en productivité.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66543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340863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5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468879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10512" y="2359151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Des idées &amp; des hooks en rafale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017520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Demande à une IA (ChatGPT, Claude) 20 angles sur ta niche et des accroches qui stoppent le scroll.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864" y="2066543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3184" y="2340863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00" y="2468879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48128" y="2359151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Scripts &amp; légendes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1472" y="3017520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Génère un script structuré (hook → valeur → action), puis réécris-le avec TES mots pour sonner vrai.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767327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5568" y="4041647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10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169663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10512" y="4059935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Visuels &amp; montage assistés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718303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Miniatures, sous-titres, voix off, images : un rendu pro en quelques minutes (Canva, CapCut…).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64" y="3767327"/>
            <a:ext cx="5071856" cy="1554480"/>
          </a:xfrm>
          <a:prstGeom prst="roundRect">
            <a:avLst>
              <a:gd name="adj" fmla="val 94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3184" y="4041647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18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200" y="4169663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48128" y="4059935"/>
            <a:ext cx="3883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4F7FF"/>
                </a:solidFill>
                <a:latin typeface="Montserrat Bold"/>
              </a:rPr>
              <a:t>Planifie &amp; recycle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1472" y="4718303"/>
            <a:ext cx="4486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L'IA transforme 1 vidéo en 5 contenus : carrousel, citation, post texte. Publie plus sans t'épuiser.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340096"/>
            <a:ext cx="10509473" cy="768096"/>
          </a:xfrm>
          <a:prstGeom prst="roundRect">
            <a:avLst>
              <a:gd name="adj" fmla="val 19047"/>
            </a:avLst>
          </a:prstGeom>
          <a:solidFill>
            <a:srgbClr val="1A2440"/>
          </a:solidFill>
          <a:ln w="15240">
            <a:solidFill>
              <a:srgbClr val="5B8DEF"/>
            </a:solidFill>
          </a:ln>
          <a:effectLst>
            <a:outerShdw blurRad="228600" dist="101600" dir="5400000" rotWithShape="0">
              <a:srgbClr val="5B8DEF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3856" y="5458968"/>
            <a:ext cx="530352" cy="53035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6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" y="5577840"/>
            <a:ext cx="292607" cy="2926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847088" y="5477256"/>
            <a:ext cx="9229313" cy="512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Règle d'or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180" b="0">
                <a:solidFill>
                  <a:srgbClr val="AEB9D6"/>
                </a:solidFill>
                <a:latin typeface="Inter"/>
              </a:rPr>
              <a:t>L'IA propose, TU valides. Un contenu 100 % IA sonne faux : garde ta voix — l'IA n'est que ton assistant.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10 /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5943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F6B43C">
                  <a:alpha val="40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6B43C">
                  <a:alpha val="24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164592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FFD36E">
                  <a:alpha val="16000"/>
                </a:srgbClr>
              </a:gs>
              <a:gs pos="100000">
                <a:srgbClr val="FFD36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-457200"/>
            <a:ext cx="64008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0" b="0">
                <a:solidFill>
                  <a:srgbClr val="111A30"/>
                </a:solidFill>
                <a:latin typeface="Montserrat Black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95728"/>
            <a:ext cx="1828800" cy="18288"/>
          </a:xfrm>
          <a:prstGeom prst="rect">
            <a:avLst/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8317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963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PARTIE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>
                <a:solidFill>
                  <a:srgbClr val="F4F7FF"/>
                </a:solidFill>
                <a:latin typeface="Montserrat Black"/>
              </a:rPr>
              <a:t>Les programmes de monétisation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365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EB9D6"/>
                </a:solidFill>
                <a:latin typeface="Inter"/>
              </a:rPr>
              <a:t>Comment Facebook paie réellement les créateurs en 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2697480"/>
            <a:ext cx="1417320" cy="14173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8" y="3081528"/>
            <a:ext cx="649224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9260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6B43C">
                  <a:alpha val="24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4023359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2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PARTIE 3 · MONÉTISATION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4F7FF"/>
                </a:solidFill>
                <a:latin typeface="Montserrat ExtraBold"/>
              </a:rPr>
              <a:t>Le Content Monetization Program (CMP)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08176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7E8AAC"/>
                </a:solidFill>
                <a:latin typeface="Inter"/>
              </a:rPr>
              <a:t>Depuis 2025, Facebook unifie tout. Fini les programmes dispersés (In-Stream, Ads Reels, Bonus de performance).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11680"/>
            <a:ext cx="5071856" cy="1783080"/>
          </a:xfrm>
          <a:prstGeom prst="roundRect">
            <a:avLst>
              <a:gd name="adj" fmla="val 820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230428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4157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50">
                <a:solidFill>
                  <a:srgbClr val="FB7185"/>
                </a:solidFill>
                <a:latin typeface="Inter SemiBold"/>
              </a:rPr>
              <a:t>AVANT — programmes dispersés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52928"/>
            <a:ext cx="44317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Publicités In-Stream · Ads sur Reels · Bonus de performance · Abonnements · Étoiles · Contenu de marque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864" y="2011680"/>
            <a:ext cx="5071856" cy="1783080"/>
          </a:xfrm>
          <a:prstGeom prst="roundRect">
            <a:avLst>
              <a:gd name="adj" fmla="val 8205"/>
            </a:avLst>
          </a:prstGeom>
          <a:solidFill>
            <a:srgbClr val="1A2440"/>
          </a:solidFill>
          <a:ln w="13970">
            <a:solidFill>
              <a:srgbClr val="3A4A78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9760" y="2304288"/>
            <a:ext cx="256032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2096" y="2267712"/>
            <a:ext cx="4157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Inter SemiBold"/>
              </a:rPr>
              <a:t>DEPUIS 2025 — un système unique : le 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8048" y="2852928"/>
            <a:ext cx="44317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EB9D6"/>
                </a:solidFill>
                <a:latin typeface="Inter"/>
              </a:rPr>
              <a:t>Un seul programme, un seul tableau de bord centralisé. Rémunération basée sur la performance de chaque contenu.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114800"/>
            <a:ext cx="3295893" cy="1783080"/>
          </a:xfrm>
          <a:prstGeom prst="roundRect">
            <a:avLst>
              <a:gd name="adj" fmla="val 820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15568" y="4389120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451713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5568" y="5084064"/>
            <a:ext cx="27472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4F7FF"/>
                </a:solidFill>
                <a:latin typeface="Montserrat Bold"/>
              </a:rPr>
              <a:t>Tous les formats payés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431536"/>
            <a:ext cx="2747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Pas seulement les vidéos : aussi les photos, les posts texte, et bientôt les stories.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8037" y="4114800"/>
            <a:ext cx="3295893" cy="1783080"/>
          </a:xfrm>
          <a:prstGeom prst="roundRect">
            <a:avLst>
              <a:gd name="adj" fmla="val 820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2357" y="4389120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-1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373" y="4517136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22357" y="5084064"/>
            <a:ext cx="27472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4F7FF"/>
                </a:solidFill>
                <a:latin typeface="Montserrat Bold"/>
              </a:rPr>
              <a:t>Basé sur la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2357" y="5431536"/>
            <a:ext cx="2747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Vues, durée de visionnage, engagement et format déterminent tes gains.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4827" y="4114800"/>
            <a:ext cx="3295893" cy="1783080"/>
          </a:xfrm>
          <a:prstGeom prst="roundRect">
            <a:avLst>
              <a:gd name="adj" fmla="val 820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9147" y="4389120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-10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163" y="4517136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29147" y="5084064"/>
            <a:ext cx="27472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4F7FF"/>
                </a:solidFill>
                <a:latin typeface="Montserrat Bold"/>
              </a:rPr>
              <a:t>Tout centralisé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9147" y="5431536"/>
            <a:ext cx="27472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AEB9D6"/>
                </a:solidFill>
                <a:latin typeface="Inter"/>
              </a:rPr>
              <a:t>Un tableau de bord unique pour suivre revenus, performances et conformité.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12 / 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7432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6B43C">
                  <a:alpha val="22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9B6DFF">
                  <a:alpha val="2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PARTIE 3 · MONÉTISATION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F4F7FF"/>
                </a:solidFill>
                <a:latin typeface="Montserrat ExtraBold"/>
              </a:rPr>
              <a:t>Es-tu éligible ? Les conditions du CMP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Même avec des millions de vues, une page peut être refusée. La préparation fait la différence.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57984"/>
            <a:ext cx="5071856" cy="1225296"/>
          </a:xfrm>
          <a:prstGeom prst="roundRect">
            <a:avLst>
              <a:gd name="adj" fmla="val 11940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450591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587751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5376" y="2414015"/>
            <a:ext cx="3791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18 ans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779776"/>
            <a:ext cx="3791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Et une page active ou un profil en mode professionnel.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864" y="2157984"/>
            <a:ext cx="5071856" cy="1225296"/>
          </a:xfrm>
          <a:prstGeom prst="roundRect">
            <a:avLst>
              <a:gd name="adj" fmla="val 11940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3184" y="2450591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44" y="2587751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02992" y="2414015"/>
            <a:ext cx="3791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5 000 abonnés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2992" y="2779776"/>
            <a:ext cx="3791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Parfois l'invitation arrive avant. Mon conseil : attends 50k et des publications virales.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584448"/>
            <a:ext cx="5071856" cy="1225296"/>
          </a:xfrm>
          <a:prstGeom prst="roundRect">
            <a:avLst>
              <a:gd name="adj" fmla="val 11940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5568" y="3877056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11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014216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65376" y="3840480"/>
            <a:ext cx="3791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Conformité stricte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5376" y="4206240"/>
            <a:ext cx="3791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Contenu original, pas de droits d'auteur violés, respect des normes communautaires.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64" y="3584448"/>
            <a:ext cx="5071856" cy="1225296"/>
          </a:xfrm>
          <a:prstGeom prst="roundRect">
            <a:avLst>
              <a:gd name="adj" fmla="val 11940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3184" y="3877056"/>
            <a:ext cx="603504" cy="603504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11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344" y="401421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02992" y="3840480"/>
            <a:ext cx="3791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Montserrat Bold"/>
              </a:rPr>
              <a:t>Pays éligible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2992" y="4206240"/>
            <a:ext cx="3791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Selon la liste de Meta — et elle évolue. Sinon → Partie 4.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047488"/>
            <a:ext cx="10509473" cy="914400"/>
          </a:xfrm>
          <a:prstGeom prst="roundRect">
            <a:avLst>
              <a:gd name="adj" fmla="val 16000"/>
            </a:avLst>
          </a:prstGeom>
          <a:solidFill>
            <a:srgbClr val="2A1A20"/>
          </a:solidFill>
          <a:ln w="15240">
            <a:solidFill>
              <a:srgbClr val="FB7185"/>
            </a:solidFill>
          </a:ln>
          <a:effectLst>
            <a:outerShdw blurRad="254000" dist="114300" dir="5400000" rotWithShape="0">
              <a:srgbClr val="FB7185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52144" y="5221224"/>
            <a:ext cx="566928" cy="56692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3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5349240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920240" y="5193792"/>
            <a:ext cx="91378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B7185"/>
                </a:solidFill>
                <a:latin typeface="Montserrat Bold"/>
              </a:rPr>
              <a:t>Le piège que beaucoup oublient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AEB9D6"/>
                </a:solidFill>
                <a:latin typeface="Inter"/>
              </a:rPr>
              <a:t>Sans compte de règlement validé, Facebook ne pourra JAMAIS te payer — même avec des millions de vues.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13 /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5943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31D7E6">
                  <a:alpha val="40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1D7E6">
                  <a:alpha val="24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164592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5B8DEF">
                  <a:alpha val="1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-457200"/>
            <a:ext cx="64008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0" b="0">
                <a:solidFill>
                  <a:srgbClr val="111A30"/>
                </a:solidFill>
                <a:latin typeface="Montserrat Black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95728"/>
            <a:ext cx="1828800" cy="18288"/>
          </a:xfrm>
          <a:prstGeom prst="rect">
            <a:avLst/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8317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963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Montserrat Bold"/>
              </a:rPr>
              <a:t>PARTIE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>
                <a:solidFill>
                  <a:srgbClr val="F4F7FF"/>
                </a:solidFill>
                <a:latin typeface="Montserrat Black"/>
              </a:rPr>
              <a:t>Monétiser depuis un pays inéligible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365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EB9D6"/>
                </a:solidFill>
                <a:latin typeface="Inter"/>
              </a:rPr>
              <a:t>Inéligible ne veut pas dire impossible. C'est un détour, pas une fin.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2697480"/>
            <a:ext cx="1417320" cy="14173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8" y="3081528"/>
            <a:ext cx="649224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9260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1D7E6">
                  <a:alpha val="24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4023359"/>
            <a:ext cx="5852160" cy="5852160"/>
          </a:xfrm>
          <a:prstGeom prst="ellipse">
            <a:avLst/>
          </a:prstGeom>
          <a:gradFill rotWithShape="1">
            <a:gsLst>
              <a:gs pos="0">
                <a:srgbClr val="5B8DEF">
                  <a:alpha val="2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Montserrat Bold"/>
              </a:rPr>
              <a:t>PARTIE 4 · PAYS INÉLIGIBLE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4F7FF"/>
                </a:solidFill>
                <a:latin typeface="Montserrat ExtraBold"/>
              </a:rPr>
              <a:t>La stratégie de contournement, étape par étape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08176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7E8AAC"/>
                </a:solidFill>
                <a:latin typeface="Inter"/>
              </a:rPr>
              <a:t>Légale et testée sur le terrain. La condition de base : une page déjà créée et bien développée.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11680"/>
            <a:ext cx="5071856" cy="1755648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3856" y="2304288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30428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36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340864"/>
            <a:ext cx="3791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F4F7FF"/>
                </a:solidFill>
                <a:latin typeface="Montserrat Bold"/>
              </a:rPr>
              <a:t>Ajouter un admin éligible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999232"/>
            <a:ext cx="4468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Un proche de confiance ou un prestataire résidant dans un pays éligible, avec contrôle total. Protège-toi via un portefeuille Business.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864" y="2011680"/>
            <a:ext cx="5071856" cy="1755648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71472" y="2304288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472" y="230428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36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9568" y="2340864"/>
            <a:ext cx="3791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F4F7FF"/>
                </a:solidFill>
                <a:latin typeface="Montserrat Bold"/>
              </a:rPr>
              <a:t>Réinitialiser ton accès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9760" y="2999232"/>
            <a:ext cx="4468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Déconnecte tes autres appareils, vide le cache, désinstalle Facebook. Active un VPN sur le pays éligible, vérifie via DNS leak test, réinstalle.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005072"/>
            <a:ext cx="5071856" cy="1755648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33856" y="429768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29768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36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4334256"/>
            <a:ext cx="3791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F4F7FF"/>
                </a:solidFill>
                <a:latin typeface="Montserrat Bold"/>
              </a:rPr>
              <a:t>Attendre l'invitation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992624"/>
            <a:ext cx="4468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L'admin ouvre la page régulièrement depuis le pays éligible. Dès que la condition « pays » est validée, tu passes à la config.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864" y="4005072"/>
            <a:ext cx="5071856" cy="1755648"/>
          </a:xfrm>
          <a:prstGeom prst="roundRect">
            <a:avLst>
              <a:gd name="adj" fmla="val 8333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71472" y="429768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1472" y="429768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36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9568" y="4334256"/>
            <a:ext cx="3791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F4F7FF"/>
                </a:solidFill>
                <a:latin typeface="Montserrat Bold"/>
              </a:rPr>
              <a:t>Configurer SANS erreur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9760" y="4992624"/>
            <a:ext cx="4468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EB9D6"/>
                </a:solidFill>
                <a:latin typeface="Inter"/>
              </a:rPr>
              <a:t>Les infos du compte de règlement doivent venir du pays éligible. Garde le compte de règlement sur TON propre compte pour le contrôle.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15 / 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56032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31D7E6">
                  <a:alpha val="24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9B6DFF">
                  <a:alpha val="24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Montserrat Bold"/>
              </a:rPr>
              <a:t>PARTIE 4 · PAYS INÉLIGIBLE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F4F7FF"/>
                </a:solidFill>
                <a:latin typeface="Montserrat ExtraBold"/>
              </a:rPr>
              <a:t>Encaisser : PayPal &amp; déblocage du compte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70432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67712"/>
            <a:ext cx="347471" cy="3474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3392" y="2167128"/>
            <a:ext cx="37002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F4F7FF"/>
                </a:solidFill>
                <a:latin typeface="Montserrat Bold"/>
              </a:rPr>
              <a:t>PayPal depuis un pays inéligible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" y="3236976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3163824"/>
            <a:ext cx="39288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Passe par le site (pas l'appli) et change le domaine : paypal.com/fr, /de, /be…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3913632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3840480"/>
            <a:ext cx="39288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Numéro réel du pays éligible (évite les numéros virtuels).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" y="4590288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4517136"/>
            <a:ext cx="39288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Email neuf dédié + adresse physique réelle d'un proche.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5266944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5193792"/>
            <a:ext cx="39288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Crée un compte Business + un compte perso pour retirer via Xoom vers ton mobile money.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864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8048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1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496" y="2267712"/>
            <a:ext cx="347471" cy="3474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31008" y="2167128"/>
            <a:ext cx="37002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F4F7FF"/>
                </a:solidFill>
                <a:latin typeface="Montserrat Bold"/>
              </a:rPr>
              <a:t>Compte de règlement bloqué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624" y="3154680"/>
            <a:ext cx="4340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90 % des créateurs inéligibles tombent dans ce piège : invités à la monétisation, ils configurent… et la validation est refusée.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4624" y="4297680"/>
            <a:ext cx="4340336" cy="960120"/>
          </a:xfrm>
          <a:prstGeom prst="roundRect">
            <a:avLst>
              <a:gd name="adj" fmla="val 1238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5792" y="4453128"/>
            <a:ext cx="39745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3DDC97"/>
                </a:solidFill>
                <a:latin typeface="Inter SemiBold"/>
              </a:rPr>
              <a:t>La solution : </a:t>
            </a:r>
            <a:r>
              <a:rPr sz="1250" b="0">
                <a:solidFill>
                  <a:srgbClr val="AEB9D6"/>
                </a:solidFill>
                <a:latin typeface="Inter"/>
              </a:rPr>
              <a:t>un compte bien configuré + le document Meta Payout Source Transfer, signé via Docusign et envoyé au support depuis ton ordinateur.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624" y="5394960"/>
            <a:ext cx="4340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4F7FF"/>
                </a:solidFill>
                <a:latin typeface="Inter SemiBold"/>
              </a:rPr>
              <a:t>Une fois validé, tu peux y relier ton propre PayPal.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16 / 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5943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3DDC97">
                  <a:alpha val="40000"/>
                </a:srgbClr>
              </a:gs>
              <a:gs pos="100000">
                <a:srgbClr val="3DDC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DDC97">
                  <a:alpha val="24000"/>
                </a:srgbClr>
              </a:gs>
              <a:gs pos="100000">
                <a:srgbClr val="3DDC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164592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31D7E6">
                  <a:alpha val="16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-457200"/>
            <a:ext cx="64008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4000" b="0">
                <a:solidFill>
                  <a:srgbClr val="111A30"/>
                </a:solidFill>
                <a:latin typeface="Montserrat Black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95728"/>
            <a:ext cx="1828800" cy="18288"/>
          </a:xfrm>
          <a:prstGeom prst="rect">
            <a:avLst/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83179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963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Montserrat Bold"/>
              </a:rPr>
              <a:t>PARTIE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>
                <a:solidFill>
                  <a:srgbClr val="F4F7FF"/>
                </a:solidFill>
                <a:latin typeface="Montserrat Black"/>
              </a:rPr>
              <a:t>Gérer les restrictions &amp; diversifier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365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EB9D6"/>
                </a:solidFill>
                <a:latin typeface="Inter"/>
              </a:rPr>
              <a:t>Sécurise ta page, puis bâtis ton propre système de revenus.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2697480"/>
            <a:ext cx="1417320" cy="14173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68" y="3081528"/>
            <a:ext cx="649224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7432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B7185">
                  <a:alpha val="22000"/>
                </a:srgbClr>
              </a:gs>
              <a:gs pos="100000">
                <a:srgbClr val="FB7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926080" y="38404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DDC97">
                  <a:alpha val="20000"/>
                </a:srgbClr>
              </a:gs>
              <a:gs pos="100000">
                <a:srgbClr val="3DDC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5720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PARTIE 5 · RESTRICTIONS &amp;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59536"/>
            <a:ext cx="105094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4F7FF"/>
                </a:solidFill>
                <a:latin typeface="Montserrat ExtraBold"/>
              </a:rPr>
              <a:t>Protéger ta page &amp; ne pas dépendre de Facebook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70432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67712"/>
            <a:ext cx="347471" cy="3474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3392" y="2167128"/>
            <a:ext cx="37002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F4F7FF"/>
                </a:solidFill>
                <a:latin typeface="Montserrat Bold"/>
              </a:rPr>
              <a:t>Éviter &amp; gérer les restrictions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" y="3236976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3163824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Respecte strictement les normes : pas de contenu trompeur, violent, haineux ou volé.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3950208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3877056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Surveille ton score de conformité dans Meta Business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" y="4663440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4590288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Attention à la liaison Facebook–Instagram : une restriction sur l'un touche l'autre.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5376672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5303520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En cas de sanction : garde ton calme et utilise les recours officiels.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864" y="1783080"/>
            <a:ext cx="5071856" cy="4160520"/>
          </a:xfrm>
          <a:prstGeom prst="roundRect">
            <a:avLst>
              <a:gd name="adj" fmla="val 351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8048" y="2112264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2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496" y="2267712"/>
            <a:ext cx="347471" cy="3474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31008" y="2167128"/>
            <a:ext cx="37002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F4F7FF"/>
                </a:solidFill>
                <a:latin typeface="Montserrat Bold"/>
              </a:rPr>
              <a:t>Facebook est un tremplin, pas un patron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4624" y="3236976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5248" y="3163824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Vends tes propres produits (physiques ou digitaux) : tu n'attends plus que Facebook te paie.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4624" y="3986784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5248" y="3913632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Aligne tes produits sur ta niche et ton audience (insights Facebook).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4624" y="4736592"/>
            <a:ext cx="237744" cy="2377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5248" y="4663440"/>
            <a:ext cx="3928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AEB9D6"/>
                </a:solidFill>
                <a:latin typeface="Inter"/>
              </a:rPr>
              <a:t>Affiliation, événements payants, services personnalisés.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4624" y="5614416"/>
            <a:ext cx="4340336" cy="713232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3DDC97">
                  <a:alpha val="16000"/>
                </a:srgbClr>
              </a:gs>
              <a:gs pos="100000">
                <a:srgbClr val="31D7E6">
                  <a:alpha val="16000"/>
                </a:srgbClr>
              </a:gs>
            </a:gsLst>
            <a:lin ang="5400000" scaled="1"/>
          </a:gra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4624" y="5614416"/>
            <a:ext cx="4340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4F7FF"/>
                </a:solidFill>
                <a:latin typeface="Inter SemiBold"/>
              </a:rPr>
              <a:t>« Ne mets pas tous tes œufs dans le même panier.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18 / 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103120"/>
            <a:ext cx="8412480" cy="8412480"/>
          </a:xfrm>
          <a:prstGeom prst="ellipse">
            <a:avLst/>
          </a:prstGeom>
          <a:gradFill rotWithShape="1">
            <a:gsLst>
              <a:gs pos="0">
                <a:srgbClr val="9B6DFF">
                  <a:alpha val="40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834640" y="-283464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5B8DEF">
                  <a:alpha val="32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-1463040"/>
            <a:ext cx="4023360" cy="4023360"/>
          </a:xfrm>
          <a:prstGeom prst="ellipse">
            <a:avLst/>
          </a:prstGeom>
          <a:gradFill rotWithShape="1">
            <a:gsLst>
              <a:gs pos="0">
                <a:srgbClr val="F6B43C">
                  <a:alpha val="16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092707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05839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ET MAINTENANT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72768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0">
                <a:solidFill>
                  <a:srgbClr val="F4F7FF"/>
                </a:solidFill>
                <a:latin typeface="Montserrat Black"/>
              </a:rPr>
              <a:t>Je t'ai montré le </a:t>
            </a:r>
            <a:r>
              <a:rPr sz="44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lack"/>
              </a:rPr>
              <a:t>QUOI</a:t>
            </a:r>
            <a:r>
              <a:rPr sz="4400" b="0">
                <a:solidFill>
                  <a:srgbClr val="F4F7FF"/>
                </a:solidFill>
                <a:latin typeface="Montserrat Black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4400" b="0">
                <a:solidFill>
                  <a:srgbClr val="F4F7FF"/>
                </a:solidFill>
                <a:latin typeface="Montserrat Black"/>
              </a:rPr>
              <a:t>Mon pack te donne le </a:t>
            </a:r>
            <a:r>
              <a:rPr sz="4400" b="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lack"/>
              </a:rPr>
              <a:t>COMMENT</a:t>
            </a:r>
            <a:r>
              <a:rPr sz="4400" b="0">
                <a:solidFill>
                  <a:srgbClr val="F4F7FF"/>
                </a:solidFill>
                <a:latin typeface="Montserrat Black"/>
              </a:rPr>
              <a:t>,</a:t>
            </a:r>
          </a:p>
          <a:p>
            <a:pPr algn="l">
              <a:lnSpc>
                <a:spcPct val="104000"/>
              </a:lnSpc>
            </a:pPr>
            <a:r>
              <a:rPr sz="4400" b="0">
                <a:solidFill>
                  <a:srgbClr val="F4F7FF"/>
                </a:solidFill>
                <a:latin typeface="Montserrat Black"/>
              </a:rPr>
              <a:t>étape par étape.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526280"/>
            <a:ext cx="457200" cy="457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626864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17904" y="4526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Inter Medium"/>
              </a:rPr>
              <a:t>Le guide complet, 7 chapitres, écrit à partir de mon expérience réelle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129784"/>
            <a:ext cx="457200" cy="457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23036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17904" y="512978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Inter Medium"/>
              </a:rPr>
              <a:t>Des tutoriels vidéo pas-à-pas pour la config et le déblocage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5733288"/>
            <a:ext cx="457200" cy="457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833872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17904" y="5733288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Inter Medium"/>
              </a:rPr>
              <a:t>Une communauté privée WhatsApp pour ne jamais rester bloqué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7521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spc="100">
                <a:solidFill>
                  <a:srgbClr val="7E8AAC"/>
                </a:solidFill>
                <a:latin typeface="Inter SemiBold"/>
              </a:rPr>
              <a:t>© Kevin Chris Digital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926080" y="-256032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5B8DEF">
                  <a:alpha val="2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19" y="36576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F6B43C">
                  <a:alpha val="24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49834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11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OFFRE SPÉCIALE DU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04672"/>
            <a:ext cx="1050947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4F7FF"/>
                </a:solidFill>
                <a:latin typeface="Montserrat ExtraBold"/>
              </a:rPr>
              <a:t>Choisis ton niveau d'accompagnement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7E8AAC"/>
                </a:solidFill>
                <a:latin typeface="Inter"/>
              </a:rPr>
              <a:t>Trois façons de passer à l'action aujourd'hui.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47088"/>
            <a:ext cx="3283701" cy="4389120"/>
          </a:xfrm>
          <a:prstGeom prst="roundRect">
            <a:avLst>
              <a:gd name="adj" fmla="val 445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3914" y="2267712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62" y="2423160"/>
            <a:ext cx="347471" cy="3474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3072384"/>
            <a:ext cx="29179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spc="1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LE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19856"/>
            <a:ext cx="2735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Guide Complet Monétisation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68496"/>
            <a:ext cx="291794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5400000" scaled="1"/>
                </a:gradFill>
                <a:latin typeface="Montserrat Black"/>
              </a:rPr>
              <a:t>9 900 </a:t>
            </a:r>
            <a:r>
              <a:rPr sz="1500" b="0">
                <a:solidFill>
                  <a:srgbClr val="AEB9D6"/>
                </a:solidFill>
                <a:latin typeface="Montserrat Bold"/>
              </a:rPr>
              <a:t>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480560"/>
            <a:ext cx="2917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spc="200">
                <a:solidFill>
                  <a:srgbClr val="7E8AAC"/>
                </a:solidFill>
                <a:latin typeface="Inter SemiBold"/>
              </a:rPr>
              <a:t>PRIX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4828031"/>
            <a:ext cx="2369301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92624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B8DEF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Les 7 chapitres complets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76672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B8DEF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L'algorithme &amp; la stratégie contenu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20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B8DEF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Pour démarrer seul, à ton rythme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4133" y="1719072"/>
            <a:ext cx="3283701" cy="4553712"/>
          </a:xfrm>
          <a:prstGeom prst="roundRect">
            <a:avLst>
              <a:gd name="adj" fmla="val 4455"/>
            </a:avLst>
          </a:prstGeom>
          <a:solidFill>
            <a:srgbClr val="1A2440"/>
          </a:solidFill>
          <a:ln w="13970">
            <a:solidFill>
              <a:srgbClr val="F6B43C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90144" y="1719072"/>
            <a:ext cx="20116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0144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spc="100">
                <a:solidFill>
                  <a:srgbClr val="1A1206"/>
                </a:solidFill>
                <a:latin typeface="Inter SemiBold"/>
              </a:rPr>
              <a:t>LE PLUS POPULAIRE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6800" y="2286000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FFD36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-1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248" y="2441448"/>
            <a:ext cx="347471" cy="3474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37013" y="3090672"/>
            <a:ext cx="29179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spc="10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Montserrat Bold"/>
              </a:rPr>
              <a:t>LE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8453" y="3438144"/>
            <a:ext cx="2735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Guide + Formation Produits Digitaux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7013" y="3986784"/>
            <a:ext cx="291794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5400000" scaled="1"/>
                </a:gradFill>
                <a:latin typeface="Montserrat Black"/>
              </a:rPr>
              <a:t>14 900 </a:t>
            </a:r>
            <a:r>
              <a:rPr sz="1500" b="0">
                <a:solidFill>
                  <a:srgbClr val="AEB9D6"/>
                </a:solidFill>
                <a:latin typeface="Montserrat Bold"/>
              </a:rPr>
              <a:t>FCFA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7013" y="4498848"/>
            <a:ext cx="2917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spc="200">
                <a:solidFill>
                  <a:srgbClr val="7E8AAC"/>
                </a:solidFill>
                <a:latin typeface="Inter SemiBold"/>
              </a:rPr>
              <a:t>PRIX 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1333" y="4846320"/>
            <a:ext cx="2369301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1605" y="5010912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6B43C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Tout le guide inclus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1605" y="5394960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6B43C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Créer &amp; vendre tes produits digitaux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1605" y="5779008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6B43C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Le meilleur rapport valeur / prix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7019" y="1847088"/>
            <a:ext cx="3283701" cy="4389120"/>
          </a:xfrm>
          <a:prstGeom prst="roundRect">
            <a:avLst>
              <a:gd name="adj" fmla="val 4455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79686" y="2267712"/>
            <a:ext cx="658368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5B8DE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134" y="2423160"/>
            <a:ext cx="347471" cy="34747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49899" y="3072384"/>
            <a:ext cx="29179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spc="10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Montserrat Bold"/>
              </a:rPr>
              <a:t>ACCOMPAGNEMENT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339" y="3419856"/>
            <a:ext cx="273506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AEB9D6"/>
                </a:solidFill>
                <a:latin typeface="Inter"/>
              </a:rPr>
              <a:t>Coaching contenu + monétisation (1-to-1)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9899" y="3968496"/>
            <a:ext cx="291794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99 </a:t>
            </a:r>
            <a:r>
              <a:rPr sz="1500" b="0">
                <a:solidFill>
                  <a:srgbClr val="AEB9D6"/>
                </a:solidFill>
                <a:latin typeface="Montserrat Bold"/>
              </a:rPr>
              <a:t>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9899" y="4480560"/>
            <a:ext cx="2917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spc="200">
                <a:solidFill>
                  <a:srgbClr val="7E8AAC"/>
                </a:solidFill>
                <a:latin typeface="Inter SemiBold"/>
              </a:rPr>
              <a:t>PRIX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4219" y="4828031"/>
            <a:ext cx="2369301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4491" y="4992624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1D7E6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On travaille ensemble, en direct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4491" y="5376672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1D7E6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Déblocage de page &amp; config guidée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4491" y="5760720"/>
            <a:ext cx="26253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1D7E6"/>
                </a:solidFill>
                <a:latin typeface="Inter SemiBold"/>
              </a:rPr>
              <a:t>✓  </a:t>
            </a:r>
            <a:r>
              <a:rPr sz="1100" b="0">
                <a:solidFill>
                  <a:srgbClr val="AEB9D6"/>
                </a:solidFill>
                <a:latin typeface="Inter"/>
              </a:rPr>
              <a:t>Places très limitées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20 / 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310896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DDC97">
                  <a:alpha val="22000"/>
                </a:srgbClr>
              </a:gs>
              <a:gs pos="100000">
                <a:srgbClr val="3DDC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108960" y="3840479"/>
            <a:ext cx="6217920" cy="6217920"/>
          </a:xfrm>
          <a:prstGeom prst="ellipse">
            <a:avLst/>
          </a:prstGeom>
          <a:gradFill rotWithShape="1">
            <a:gsLst>
              <a:gs pos="0">
                <a:srgbClr val="9B6DFF">
                  <a:alpha val="2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58978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502919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Montserrat Bold"/>
              </a:rPr>
              <a:t>ILS L'ONT DÉJÀ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896112"/>
            <a:ext cx="105094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4F7FF"/>
                </a:solidFill>
                <a:latin typeface="Montserrat ExtraBold"/>
              </a:rPr>
              <a:t>Des chiffres réels de la boutique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Kevin Chris Digital — résultats vérifiables.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40280"/>
            <a:ext cx="2394196" cy="2057400"/>
          </a:xfrm>
          <a:prstGeom prst="roundRect">
            <a:avLst>
              <a:gd name="adj" fmla="val 71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2551176"/>
            <a:ext cx="457200" cy="731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807208"/>
            <a:ext cx="184555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5400000" scaled="1"/>
                </a:gradFill>
                <a:latin typeface="Montserrat Black"/>
              </a:rPr>
              <a:t>400k+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721608"/>
            <a:ext cx="18455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AEB9D6"/>
                </a:solidFill>
                <a:latin typeface="Inter Medium"/>
              </a:rPr>
              <a:t>abonnés sur les réseaux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6340" y="2240280"/>
            <a:ext cx="2394196" cy="2057400"/>
          </a:xfrm>
          <a:prstGeom prst="roundRect">
            <a:avLst>
              <a:gd name="adj" fmla="val 71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57236" y="2551176"/>
            <a:ext cx="457200" cy="731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0660" y="2807208"/>
            <a:ext cx="184555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5400000" scaled="1"/>
                </a:gradFill>
                <a:latin typeface="Montserrat Black"/>
              </a:rPr>
              <a:t>364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7236" y="3721608"/>
            <a:ext cx="18455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AEB9D6"/>
                </a:solidFill>
                <a:latin typeface="Inter Medium"/>
              </a:rPr>
              <a:t>créateurs ont pris le guide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432" y="2240280"/>
            <a:ext cx="2394196" cy="2057400"/>
          </a:xfrm>
          <a:prstGeom prst="roundRect">
            <a:avLst>
              <a:gd name="adj" fmla="val 71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2328" y="2551176"/>
            <a:ext cx="457200" cy="731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5752" y="2807208"/>
            <a:ext cx="184555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5400000" scaled="1"/>
                </a:gradFill>
                <a:latin typeface="Montserrat Black"/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328" y="3721608"/>
            <a:ext cx="18455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AEB9D6"/>
                </a:solidFill>
                <a:latin typeface="Inter Medium"/>
              </a:rPr>
              <a:t>ont choisi le pack complet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6525" y="2240280"/>
            <a:ext cx="2394196" cy="2057400"/>
          </a:xfrm>
          <a:prstGeom prst="roundRect">
            <a:avLst>
              <a:gd name="adj" fmla="val 7111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7421" y="2551176"/>
            <a:ext cx="457200" cy="731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0845" y="2807208"/>
            <a:ext cx="184555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5400000" scaled="1"/>
                </a:gradFill>
                <a:latin typeface="Montserrat Black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21" y="3721608"/>
            <a:ext cx="18455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AEB9D6"/>
                </a:solidFill>
                <a:latin typeface="Inter Medium"/>
              </a:rPr>
              <a:t>d'avis positifs sur le guide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709160"/>
            <a:ext cx="10509473" cy="1234440"/>
          </a:xfrm>
          <a:prstGeom prst="roundRect">
            <a:avLst>
              <a:gd name="adj" fmla="val 11851"/>
            </a:avLst>
          </a:prstGeom>
          <a:solidFill>
            <a:srgbClr val="151D33"/>
          </a:solidFill>
          <a:ln w="1270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4910328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5400000" scaled="1"/>
                </a:gradFill>
                <a:latin typeface="Montserrat Black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4928616"/>
            <a:ext cx="895499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F4F7FF"/>
                </a:solidFill>
                <a:latin typeface="Inter SemiBold"/>
              </a:rPr>
              <a:t>« Là où il y a une grande volonté, il ne peut pas y avoir de grandes difficultés. »  </a:t>
            </a:r>
            <a:r>
              <a:rPr sz="1300" b="0">
                <a:solidFill>
                  <a:srgbClr val="7E8AAC"/>
                </a:solidFill>
                <a:latin typeface="Inter"/>
              </a:rPr>
              <a:t>— Machiavel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AEB9D6"/>
                </a:solidFill>
                <a:latin typeface="Inter Medium"/>
              </a:rPr>
              <a:t>Depuis l'Afrique, j'encaisse tous les mois. Toi aussi, tu peux.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21 / 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10896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9B6DFF">
                  <a:alpha val="26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657599"/>
            <a:ext cx="6583680" cy="6583680"/>
          </a:xfrm>
          <a:prstGeom prst="ellipse">
            <a:avLst/>
          </a:prstGeom>
          <a:gradFill rotWithShape="1">
            <a:gsLst>
              <a:gs pos="0">
                <a:srgbClr val="5B8DEF">
                  <a:alpha val="26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-1463040"/>
            <a:ext cx="3657600" cy="3657600"/>
          </a:xfrm>
          <a:prstGeom prst="ellipse">
            <a:avLst/>
          </a:prstGeom>
          <a:gradFill rotWithShape="1">
            <a:gsLst>
              <a:gs pos="0">
                <a:srgbClr val="31D7E6">
                  <a:alpha val="16000"/>
                </a:srgbClr>
              </a:gs>
              <a:gs pos="100000">
                <a:srgbClr val="31D7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544068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457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ILS ME FONT CONFIANCE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859536"/>
            <a:ext cx="1050947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F4F7FF"/>
                </a:solidFill>
                <a:latin typeface="Montserrat ExtraBold"/>
              </a:rPr>
              <a:t>Le mur des créateurs accompagnés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4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7E8AAC"/>
                </a:solidFill>
                <a:latin typeface="Inter"/>
              </a:rPr>
              <a:t>Des créateurs, artistes et marques que j'aide à grandir et à monétiser au quotidien.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40280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4256" y="2423160"/>
            <a:ext cx="694944" cy="694944"/>
          </a:xfrm>
          <a:prstGeom prst="ellipse">
            <a:avLst/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4256" y="242316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91256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Laurisse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65576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Créatrice digitale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" y="3703320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03320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Monétisation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3376" y="2240280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6384" y="2423160"/>
            <a:ext cx="694944" cy="694944"/>
          </a:xfrm>
          <a:prstGeom prst="ellipse">
            <a:avLst/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6384" y="242316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3104" y="3191256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Le MB Bandjounais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3104" y="3465576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Humoriste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4544" y="3703320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9680" y="3703320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Gestion de page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5504" y="2240280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48512" y="2423160"/>
            <a:ext cx="694944" cy="694944"/>
          </a:xfrm>
          <a:prstGeom prst="ellipse">
            <a:avLst/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8512" y="242316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232" y="3191256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L'étoile Kribienne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5232" y="3465576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Influenceuse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6672" y="3703320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1808" y="3703320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Inter SemiBold"/>
              </a:rPr>
              <a:t>Certification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7632" y="2240280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90641" y="2423160"/>
            <a:ext cx="694944" cy="694944"/>
          </a:xfrm>
          <a:prstGeom prst="ellipse">
            <a:avLst/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0641" y="242316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PL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7360" y="3191256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Papy Le Jongleur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7360" y="3465576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Artiste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8800" y="3703320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3936" y="3703320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Inter SemiBold"/>
              </a:rPr>
              <a:t>Facebook 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09761" y="2240280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32769" y="2423160"/>
            <a:ext cx="694944" cy="694944"/>
          </a:xfrm>
          <a:prstGeom prst="ellipse">
            <a:avLst/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2769" y="242316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JK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19489" y="3191256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Justine Kem's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9489" y="3465576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Créatrice lifestyle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10929" y="3703320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6065" y="3703320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Inter SemiBold"/>
              </a:rPr>
              <a:t>Création de contenu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4215384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64256" y="4398264"/>
            <a:ext cx="694944" cy="694944"/>
          </a:xfrm>
          <a:prstGeom prst="ellipse">
            <a:avLst/>
          </a:prstGeom>
          <a:gradFill rotWithShape="1">
            <a:gsLst>
              <a:gs pos="0">
                <a:srgbClr val="31D7E6"/>
              </a:gs>
              <a:gs pos="100000">
                <a:srgbClr val="5B8DE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4256" y="439826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DN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5166360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Dilane Nofole 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" y="5440680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Entrepreneur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2416" y="5678424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5678424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31D7E6"/>
                    </a:gs>
                    <a:gs pos="100000">
                      <a:srgbClr val="5B8DEF"/>
                    </a:gs>
                  </a:gsLst>
                  <a:lin ang="0" scaled="1"/>
                </a:gradFill>
                <a:latin typeface="Inter SemiBold"/>
              </a:rPr>
              <a:t>Audit de page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83376" y="4215384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06384" y="4398264"/>
            <a:ext cx="694944" cy="694944"/>
          </a:xfrm>
          <a:prstGeom prst="ellipse">
            <a:avLst/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6384" y="439826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KC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93104" y="5166360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93104" y="5440680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Coach digital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84544" y="5678424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29680" y="5678424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FaceHOOK Studio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25504" y="4215384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748512" y="4398264"/>
            <a:ext cx="694944" cy="694944"/>
          </a:xfrm>
          <a:prstGeom prst="ellipse">
            <a:avLst/>
          </a:prstGeom>
          <a:gradFill rotWithShape="1">
            <a:gsLst>
              <a:gs pos="0">
                <a:srgbClr val="FB7185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48512" y="439826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5232" y="5166360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Mbanga Diaspora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35232" y="5440680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Média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26672" y="5678424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71808" y="5678424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FB7185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SemiBold"/>
              </a:rPr>
              <a:t>Sécurité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67632" y="4215384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90641" y="4398264"/>
            <a:ext cx="694944" cy="694944"/>
          </a:xfrm>
          <a:prstGeom prst="ellipse">
            <a:avLst/>
          </a:prstGeom>
          <a:gradFill rotWithShape="1">
            <a:gsLst>
              <a:gs pos="0">
                <a:srgbClr val="F6B43C"/>
              </a:gs>
              <a:gs pos="100000">
                <a:srgbClr val="FFD36E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90641" y="439826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7360" y="5166360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Alain Tchamo Officiel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77360" y="5440680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Artiste musique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68800" y="5678424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13936" y="5678424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F6B43C"/>
                    </a:gs>
                    <a:gs pos="100000">
                      <a:srgbClr val="FFD36E"/>
                    </a:gs>
                  </a:gsLst>
                  <a:lin ang="0" scaled="1"/>
                </a:gradFill>
                <a:latin typeface="Inter SemiBold"/>
              </a:rPr>
              <a:t>Monétisation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9761" y="4215384"/>
            <a:ext cx="1940960" cy="1792224"/>
          </a:xfrm>
          <a:prstGeom prst="roundRect">
            <a:avLst>
              <a:gd name="adj" fmla="val 8163"/>
            </a:avLst>
          </a:prstGeom>
          <a:solidFill>
            <a:srgbClr val="151D33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2769" y="4398264"/>
            <a:ext cx="694944" cy="694944"/>
          </a:xfrm>
          <a:prstGeom prst="ellipse">
            <a:avLst/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28600" dist="1270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32769" y="439826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0" b="0">
                <a:solidFill>
                  <a:srgbClr val="FFFFFF"/>
                </a:solidFill>
                <a:latin typeface="Montserrat Black"/>
              </a:rPr>
              <a:t>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19489" y="5166360"/>
            <a:ext cx="1721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F7FF"/>
                </a:solidFill>
                <a:latin typeface="Inter SemiBold"/>
              </a:rPr>
              <a:t>Dj Styvo Godson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19489" y="5440680"/>
            <a:ext cx="172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E8AAC"/>
                </a:solidFill>
                <a:latin typeface="Inter"/>
              </a:rPr>
              <a:t>DJ / Artiste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10929" y="5678424"/>
            <a:ext cx="1538624" cy="256032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A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56065" y="5678424"/>
            <a:ext cx="1648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 spc="2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Inter SemiBold"/>
              </a:rPr>
              <a:t>Facebook Ads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20">
                <a:solidFill>
                  <a:srgbClr val="7E8AAC"/>
                </a:solidFill>
                <a:latin typeface="Inter SemiBold"/>
              </a:rPr>
              <a:t>KEVIN CHRIS DIGITAL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1921" y="6437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50">
                <a:solidFill>
                  <a:srgbClr val="7E8AAC"/>
                </a:solidFill>
                <a:latin typeface="Inter SemiBold"/>
              </a:rPr>
              <a:t>22 / 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" y="6364224"/>
            <a:ext cx="10509473" cy="10972"/>
          </a:xfrm>
          <a:prstGeom prst="rect">
            <a:avLst/>
          </a:prstGeom>
          <a:solidFill>
            <a:srgbClr val="26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426"/>
              </a:gs>
              <a:gs pos="55000">
                <a:srgbClr val="0A0E1A"/>
              </a:gs>
              <a:gs pos="100000">
                <a:srgbClr val="070A12"/>
              </a:gs>
            </a:gsLst>
            <a:lin ang="6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393192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9B6DFF">
                  <a:alpha val="38000"/>
                </a:srgbClr>
              </a:gs>
              <a:gs pos="100000">
                <a:srgbClr val="9B6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931920" y="338328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5B8DEF">
                  <a:alpha val="34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4206240"/>
            <a:ext cx="4023360" cy="4023360"/>
          </a:xfrm>
          <a:prstGeom prst="ellipse">
            <a:avLst/>
          </a:prstGeom>
          <a:gradFill rotWithShape="1">
            <a:gsLst>
              <a:gs pos="0">
                <a:srgbClr val="F6B43C">
                  <a:alpha val="16000"/>
                </a:srgbClr>
              </a:gs>
              <a:gs pos="100000">
                <a:srgbClr val="F6B4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955547"/>
            <a:ext cx="310896" cy="1188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8686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30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old"/>
              </a:rPr>
              <a:t>C'EST À TOI DE JOUER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4F7FF"/>
                </a:solidFill>
                <a:latin typeface="Montserrat Black"/>
              </a:rPr>
              <a:t>Passe à l'action </a:t>
            </a:r>
            <a:r>
              <a:rPr sz="480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Montserrat Black"/>
              </a:rPr>
              <a:t>maintenant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>
                <a:solidFill>
                  <a:srgbClr val="AEB9D6"/>
                </a:solidFill>
                <a:latin typeface="Inter"/>
              </a:rPr>
              <a:t>Tu as deux choix : continuer à publier sans résultats… ou appliquer la méthode et transformer Facebook en source de revenus.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611880"/>
            <a:ext cx="5071856" cy="1371600"/>
          </a:xfrm>
          <a:prstGeom prst="roundRect">
            <a:avLst>
              <a:gd name="adj" fmla="val 1066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3959352"/>
            <a:ext cx="676656" cy="67665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9B6DFF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2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4114800"/>
            <a:ext cx="365759" cy="3657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29968" y="3886200"/>
            <a:ext cx="3700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La boutique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4361688"/>
            <a:ext cx="3700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gradFill rotWithShape="1">
                  <a:gsLst>
                    <a:gs pos="0">
                      <a:srgbClr val="5B8DEF"/>
                    </a:gs>
                    <a:gs pos="100000">
                      <a:srgbClr val="9B6DFF"/>
                    </a:gs>
                  </a:gsLst>
                  <a:lin ang="0" scaled="1"/>
                </a:gradFill>
                <a:latin typeface="Inter Medium"/>
              </a:rPr>
              <a:t>formation.kevinchrisdigital.com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864" y="3611880"/>
            <a:ext cx="5071856" cy="1371600"/>
          </a:xfrm>
          <a:prstGeom prst="roundRect">
            <a:avLst>
              <a:gd name="adj" fmla="val 10666"/>
            </a:avLst>
          </a:prstGeom>
          <a:solidFill>
            <a:srgbClr val="1A2440"/>
          </a:solidFill>
          <a:ln w="13970">
            <a:solidFill>
              <a:srgbClr val="263352"/>
            </a:solidFill>
          </a:ln>
          <a:effectLst>
            <a:outerShdw blurRad="279400" dist="1397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9760" y="3959352"/>
            <a:ext cx="676656" cy="67665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DDC97"/>
              </a:gs>
              <a:gs pos="100000">
                <a:srgbClr val="31D7E6"/>
              </a:gs>
            </a:gsLst>
            <a:lin ang="7500000" scaled="1"/>
          </a:gradFill>
          <a:ln>
            <a:noFill/>
          </a:ln>
          <a:effectLst>
            <a:outerShdw blurRad="203200" dist="76200" dir="5400000" rotWithShape="0">
              <a:srgbClr val="31D7E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6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208" y="4114800"/>
            <a:ext cx="365759" cy="3657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67584" y="3886200"/>
            <a:ext cx="3700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Montserrat Bold"/>
              </a:rPr>
              <a:t>Accompagnement perso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584" y="4361688"/>
            <a:ext cx="3700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gradFill rotWithShape="1">
                  <a:gsLst>
                    <a:gs pos="0">
                      <a:srgbClr val="3DDC97"/>
                    </a:gs>
                    <a:gs pos="100000">
                      <a:srgbClr val="31D7E6"/>
                    </a:gs>
                  </a:gsLst>
                  <a:lin ang="0" scaled="1"/>
                </a:gradFill>
                <a:latin typeface="Inter Medium"/>
              </a:rPr>
              <a:t>wa.me/message/RKOEMXQRVJD7L1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349240"/>
            <a:ext cx="105094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4F7FF"/>
                </a:solidFill>
                <a:latin typeface="Montserrat Bold"/>
              </a:rPr>
              <a:t>Merci d'avoir suivi cette masterclass — à toi de jouer.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7521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spc="100">
                <a:solidFill>
                  <a:srgbClr val="7E8AAC"/>
                </a:solidFill>
                <a:latin typeface="Inter SemiBold"/>
              </a:rPr>
              <a:t>© Kevin Chris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