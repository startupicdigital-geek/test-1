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69" cy="6858000" type="screen4x3"/>
  <p:notesSz cx="6858000" cy="9144000"/>
  <p:embeddedFontLst>
    <p:embeddedFont>
      <p:font typeface="Montserrat"/>
      <p:regular r:id="rIdFont1"/>
    </p:embeddedFont>
    <p:embeddedFont>
      <p:font typeface="Montserrat Medium"/>
      <p:regular r:id="rIdFont2"/>
    </p:embeddedFont>
    <p:embeddedFont>
      <p:font typeface="Montserrat SemiBold"/>
      <p:regular r:id="rIdFont3"/>
    </p:embeddedFont>
    <p:embeddedFont>
      <p:font typeface="Montserrat Bold"/>
      <p:regular r:id="rIdFont4"/>
    </p:embeddedFont>
    <p:embeddedFont>
      <p:font typeface="Montserrat ExtraBold"/>
      <p:regular r:id="rIdFont5"/>
    </p:embeddedFont>
    <p:embeddedFont>
      <p:font typeface="Montserrat Black"/>
      <p:regular r:id="rIdFont6"/>
    </p:embeddedFont>
    <p:embeddedFont>
      <p:font typeface="Inter"/>
      <p:regular r:id="rIdFont7"/>
    </p:embeddedFont>
    <p:embeddedFont>
      <p:font typeface="Inter Medium"/>
      <p:regular r:id="rIdFont8"/>
    </p:embeddedFont>
    <p:embeddedFont>
      <p:font typeface="Inter SemiBold"/>
      <p:regular r:id="rIdFont9"/>
    </p:embeddedFont>
    <p:embeddedFont>
      <p:font typeface="Inter Bold"/>
      <p:regular r:id="rId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Relationship Id="rIdFont7" Type="http://schemas.openxmlformats.org/officeDocument/2006/relationships/font" Target="fonts/font7.fntdata"/><Relationship Id="rIdFont8" Type="http://schemas.openxmlformats.org/officeDocument/2006/relationships/font" Target="fonts/font8.fntdata"/><Relationship Id="rIdFont9" Type="http://schemas.openxmlformats.org/officeDocument/2006/relationships/font" Target="fonts/font9.fntdata"/><Relationship Id="rIdFont10" Type="http://schemas.openxmlformats.org/officeDocument/2006/relationships/font" Target="fonts/font10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d'ouverture. Te présenter en 30 secondes, annoncer la promesse : à la fin de ce live, ils sauront comment Facebook paie et comment encaisser même depuis un pays inéligible. Annoncer qu'une offre spéciale les attend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carte du voyage. Insister : 80% valeur, le reste c'est pour ceux qui veulent aller plus vite avec mon accompagnement.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Raconte ça avec émotion, c'est ton arme la plus forte. Le public doit se reconnaître. Termine sur : si moi j'ai réussi en partant de cette galère, toi tu peux aller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partie 1. Le test 1-2% est le 'aha moment' du public. Insiste sur le HOOK. Donne un exemple concret tiré de tes propres vidéos.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 sur deux pièges concrets : (1) la liaison FB-IG qui fait perdre des pages, (2) ne jamais sponsoriser la page qu'on veut monétiser.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commentaire ou un partage vaut 10 fois un like. Explique la polarisation avec un exemple. Rappelle : la régularité protège aussi ton RPM dans les pays inéligibles.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Création SANS IA. Martèle que l'authenticité est non-négociable, surtout en Afrique francophone : visage, langue, vécu. Donne un exemple d'une de tes vidéos 'brutes' qui a cartonné.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Création AVEC l'IA. Montre un prompt en direct si possible. Rassure : l'IA ne remplace pas leur personnalité, elle fait gagner du temps. Pont naturel vers la valeur du pack (prompts &amp; process détaillés).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CMP n'accepte pas étoiles, abonnements ni contenu de marque. Précise que des programmes arrivent : Storefront, affiliation Amazon.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compte de règlement est le pont vers cette partie inéligible. C'est là que 90% des créateurs des pays inéligibles tombent.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TON angle différenciant, le contenu que personne d'autre n'enseigne aussi clairement. Reste sur la logique sans transformer le live en tuto technique : le détail pas-à-pas, c'est le rôle du guide et des vidéos.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donne pas tout le détail de la procédure de recours ici — c'est précisément la valeur du guide et de l'accompagnement. Dis qu'elle existe, qu'elle marche, et que tu la détailles pas-à-pas dans le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vente : tu as commencé en vendant des laptops avec moins de 1000 abonnés. Le digital amplifie tout. C'est le pont naturel vers ton 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Bascule douce vers la vente. Rappelle que le guide seul sous-estime l'offre : c'est guide + vidéos + communauté. Enchaîne directement sur les 3 offres.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 les 3 paliers dans l'ordre. Insiste sur le PACK comme évidence (pour quelques milliers de plus, le double de valeur). L'accompagnement crée la rareté. Remplace [PRIX LIVE] par tes chiffres avant dimanche.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Chiffres réels au moment de la prépa : à actualiser si besoin avant dimanche. Raconte un cas client précis de déblocage de page si tu en as un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Preuve sociale par les pairs. Cite 1-2 cas précis parmi ces créateurs (résultat obtenu) avant d'enchaîner sur l'offre. À FAIRE : remplacer les avatars à initiales par les vraies photos avant le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Clôture énergique. Rappelle l'offre spéciale et la rareté de l'accompagnement. Ouvre le Q&amp;A. Donne le lien WhatsApp en clair pour ceux qui veulent l'accompagnement.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25.png"/><Relationship Id="rId5" Type="http://schemas.openxmlformats.org/officeDocument/2006/relationships/image" Target="../media/image32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31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27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0880" y="2011680"/>
            <a:ext cx="8595360" cy="8595360"/>
          </a:xfrm>
          <a:prstGeom prst="ellipse">
            <a:avLst/>
          </a:prstGeom>
          <a:gradFill rotWithShape="1">
            <a:gsLst>
              <a:gs pos="0">
                <a:srgbClr val="9B6DFF">
                  <a:alpha val="42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-3017520"/>
            <a:ext cx="6583680" cy="6583680"/>
          </a:xfrm>
          <a:prstGeom prst="ellipse">
            <a:avLst/>
          </a:prstGeom>
          <a:gradFill rotWithShape="1">
            <a:gsLst>
              <a:gs pos="0">
                <a:srgbClr val="5B8DEF">
                  <a:alpha val="3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79" y="-1554480"/>
            <a:ext cx="4389120" cy="4389120"/>
          </a:xfrm>
          <a:prstGeom prst="ellipse">
            <a:avLst/>
          </a:prstGeom>
          <a:gradFill rotWithShape="1">
            <a:gsLst>
              <a:gs pos="0">
                <a:srgbClr val="31D7E6">
                  <a:alpha val="20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932688"/>
            <a:ext cx="2011680" cy="18288"/>
          </a:xfrm>
          <a:prstGeom prst="rect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12013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1033271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MASTERCLASS LIVE  ·  CRÉATION &amp; MONÉTISATION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10698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0">
                <a:solidFill>
                  <a:srgbClr val="F4F7FF"/>
                </a:solidFill>
                <a:latin typeface="Montserrat Black"/>
              </a:rPr>
              <a:t>Créer du contenu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5800" b="0">
                <a:solidFill>
                  <a:srgbClr val="F4F7FF"/>
                </a:solidFill>
                <a:latin typeface="Montserrat Black"/>
              </a:rPr>
              <a:t>&amp; monétiser </a:t>
            </a:r>
            <a:r>
              <a:rPr sz="58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Facebook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41648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>
                <a:solidFill>
                  <a:srgbClr val="AEB9D6"/>
                </a:solidFill>
                <a:latin typeface="Inter"/>
              </a:rPr>
              <a:t>La méthode claire, simple et adaptée à l'Afrique — même si tu pars de zéro, et même si ton pays n'est pas encore éligible.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5029200"/>
            <a:ext cx="5852160" cy="1078992"/>
          </a:xfrm>
          <a:prstGeom prst="roundRect">
            <a:avLst>
              <a:gd name="adj" fmla="val 1355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5202936"/>
            <a:ext cx="731519" cy="731519"/>
          </a:xfrm>
          <a:prstGeom prst="ellipse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kevin-chris-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5248656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20240" y="5175504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>
                <a:solidFill>
                  <a:srgbClr val="F4F7FF"/>
                </a:solidFill>
                <a:latin typeface="Montserrat Bold"/>
              </a:rPr>
              <a:t>Kevin Chris Atchof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100" b="0">
                <a:solidFill>
                  <a:srgbClr val="AEB9D6"/>
                </a:solidFill>
                <a:latin typeface="Inter"/>
              </a:rPr>
              <a:t>Le créateur le plus suivi d'Afrique francophone sur la monétisation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32004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3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608076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21207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AU PROGRAMME AUJOURD'HUI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914400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6 étapes pour passer de zéro aux revenus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17904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Environ 1h45 — pose tes questions à la fin de chaque partie.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1909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568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69463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Comprendre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L'algorithme et ce que Meta veut vraiment de toi.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4133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4795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8453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613" y="2569463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28453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Créer du contenu qui performe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8453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Niche, formats, régularité, le HOOK qui décolle.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7019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87681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1339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2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499" y="2569463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41339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Les programmes de monétisation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1339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Le CMP 2025 et les conditions d'éligibilité.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61909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5568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-2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855464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15568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Monétiser depuis un pays inéligible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La stratégie de contournement 100% légale.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54133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4795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8453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2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613" y="4855464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728453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Gérer les restrictions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8453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Éviter les blocages et sécuriser ta page.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7019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87681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41339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-2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499" y="4855464"/>
            <a:ext cx="329184" cy="32918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341339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Diversifier tes revenus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1339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Vendre tes propres produits avec ta page.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02 / 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3657600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3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41148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608076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21207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MON HISTOIRE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914400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J'ai vécu exactement ce que tu 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15568" y="2075688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203704"/>
            <a:ext cx="310896" cy="3108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792224" y="2148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92224" y="21488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807208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Le décollage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46120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Deux vidéos (clonage WhatsApp + LuzIA) propulsent ma page de 2 000 à plus de 12 000 abonnés. Des millions de vues.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64" y="1783080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184" y="2075688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203704"/>
            <a:ext cx="310896" cy="31089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229840" y="2148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9840" y="21488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L'ERREUR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184" y="2807208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L'erreur fatale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184" y="3246120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Depuis le Cameroun (pays inéligible), je configure ma monétisation avec mes vraies infos. Ma page est bloquée.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087368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4379976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507992"/>
            <a:ext cx="310896" cy="31089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792224" y="44531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92224" y="44531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LE DÉSERT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5111496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traversée du désert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550408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« Tu as gâté ta page », me disaient les experts. J'ai cherché, je me suis formé, j'ai parlé à l'équipe Meta.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78864" y="4087368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53184" y="4379976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507992"/>
            <a:ext cx="310896" cy="31089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229840" y="44531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9840" y="44531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MAI 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184" y="5111496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renaissance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3184" y="5550408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Je résous le problème que personne ne savait régler. Aujourd'hui, j'aide des créateurs à débloquer leurs pages.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03 / 23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5B8DEF">
                  <a:alpha val="40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9B6DFF">
                  <a:alpha val="1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Comprendre Facebook avant de monétiser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Tu ne peux pas gagner à un jeu dont tu ignores les règles.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74320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28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 · COMPRENDRE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L'algorithme, c'est ton patron exigeant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Il ne paie pas celui qui travaille dur, mais celui qui attire l'attention — et respecte le règlement.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94560"/>
            <a:ext cx="5074920" cy="3703320"/>
          </a:xfrm>
          <a:prstGeom prst="roundRect">
            <a:avLst>
              <a:gd name="adj" fmla="val 3950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523744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2679191"/>
            <a:ext cx="365759" cy="365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93392" y="2651760"/>
            <a:ext cx="3703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4F7FF"/>
                </a:solidFill>
                <a:latin typeface="Montserrat Bold"/>
              </a:rPr>
              <a:t>Le petit test de visibilité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2144" y="3584448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351129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Facebook ne montre d'abord ton contenu qu'à 1–2 % de tes abonnés.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" y="4361688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428853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S'ils réagissent vite (likes, commentaires, partages, temps de visionnage) → ton contenu décolle.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" y="5138927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506577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Sinon → l'algorithme l'enterre, et personne d'autre ne le verra.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2194560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56248" y="246887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596896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51192" y="2432304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Engagement immédiat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1192" y="2798064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Les réactions dans la 1re heure décident de tout. D'où l'importance du HOOK : tes 3 premières secondes.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3474720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6248" y="374903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5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77055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51192" y="3712463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Temps passé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1192" y="4078224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Une vidéo regardée jusqu'au bout vaut plus que 5 likes rapides. Te liker toi-même ne sert à rien.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4754879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56248" y="502919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5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5157215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251192" y="4992623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Régularité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1192" y="5358383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Quand tu disparais, l'algorithme t'oublie. Il récompense ceux qui nourrissent leur audience souvent.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05 / 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3840479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 · COMPRENDRE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4F7FF"/>
                </a:solidFill>
                <a:latin typeface="Montserrat ExtraBold"/>
              </a:rPr>
              <a:t>L'écosystème Meta : chaque app a un rôle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26464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Meta n'a pas créé ses apps pour te divertir, mais pour capter et garder ton audience. Avance progressivement.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496311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point de départ. 80 % de mes efforts. Le réseau N°1 de la monétisation chez Meta.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8037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22357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517" y="2496311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5589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2357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La vitrine visuelle. Les Reels circulent entre les deux — mais une restriction sur l'un affecte l'autre.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4827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9147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6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6307" y="2496311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42379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WhatsApp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9147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Là où tu transformes les likes en argent : la conversation privée qui convertit en client.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5568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6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709159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828800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Messenger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assistant automatisé : chatbots et réponses auto (ex. ManyChat) pour répondre à 100 personnes à la fois.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8037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22357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9517" y="4709159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35589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Business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2357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centre de contrôle : planifier, analyser, configurer la monétisation, résoudre les restrictions.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4827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29147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6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6307" y="4709159"/>
            <a:ext cx="310896" cy="31089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42379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Meta 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9147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La régie qui finance les créateurs. Mais ne sponsorise pas la page que tu veux monétiser.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06 / 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9B6DFF">
                  <a:alpha val="4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B7185">
                  <a:alpha val="24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9B6DFF">
                  <a:alpha val="1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Créer du contenu qui performe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Le contenu est roi — mais seulement s'il sert l'algorithme.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Niche rentable &amp; portée organique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240280"/>
            <a:ext cx="3700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4F7FF"/>
                </a:solidFill>
                <a:latin typeface="Montserrat Bold"/>
              </a:rPr>
              <a:t>Choisir sa niche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63239"/>
            <a:ext cx="4340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Inter SemiBold"/>
              </a:rPr>
              <a:t>Au croisement de 3 cercles 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25296" y="35844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64208" y="35295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Ta passion / ton expertise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25296" y="40416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64208" y="39867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Une demande réelle de l'audience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25296" y="44988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64208" y="44439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Un potentiel de monétisation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5010912"/>
            <a:ext cx="4340336" cy="12801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5212080"/>
            <a:ext cx="4340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Une niche claire = une audience fidèle = un algorithme qui comprend exactement à qui te montrer.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Booster ta portée (gratuitement)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4624" y="3246120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5248" y="3182112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Soigne ton HOOK — </a:t>
            </a:r>
            <a:r>
              <a:rPr sz="1300" b="0">
                <a:solidFill>
                  <a:srgbClr val="AEB9D6"/>
                </a:solidFill>
                <a:latin typeface="Inter"/>
              </a:rPr>
              <a:t>titre ou 3 premières secondes.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4624" y="3785615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5248" y="3721608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Provoque le commentaire — </a:t>
            </a:r>
            <a:r>
              <a:rPr sz="1300" b="0">
                <a:solidFill>
                  <a:srgbClr val="AEB9D6"/>
                </a:solidFill>
                <a:latin typeface="Inter"/>
              </a:rPr>
              <a:t>polarise, pose une question.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44624" y="432511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65248" y="4261104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Vise le partage — </a:t>
            </a:r>
            <a:r>
              <a:rPr sz="1300" b="0">
                <a:solidFill>
                  <a:srgbClr val="AEB9D6"/>
                </a:solidFill>
                <a:latin typeface="Inter"/>
              </a:rPr>
              <a:t>un contenu utile lié à la sécurité se partage seul.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44624" y="4864607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65248" y="4800600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Mise sur les Reels — </a:t>
            </a:r>
            <a:r>
              <a:rPr sz="1300" b="0">
                <a:solidFill>
                  <a:srgbClr val="AEB9D6"/>
                </a:solidFill>
                <a:latin typeface="Inter"/>
              </a:rPr>
              <a:t>c'est là que l'algorithme pousse la visibilité.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44624" y="5404103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5248" y="5340096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Publie régulièrement — </a:t>
            </a:r>
            <a:r>
              <a:rPr sz="1300" b="0">
                <a:solidFill>
                  <a:srgbClr val="AEB9D6"/>
                </a:solidFill>
                <a:latin typeface="Inter"/>
              </a:rPr>
              <a:t>la constance bat la perfection.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08 / 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B7185">
                  <a:alpha val="24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F6B43C">
                  <a:alpha val="22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Créer du contenu SANS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L'authenticité brute : ton visage, ta voix, ton vécu. C'est le socle qui crée le lien — et la confiance qui vend.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468879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10512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Ton authenticité = ton avantage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Montre ton visage, parle ta langue, partage ton vécu. La proximité crée la confiance qui vend.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468879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48128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Filme simplement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1472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Un smartphone, une bonne lumière, un son clair. Le message compte toujours plus que le matériel.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169663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10512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Raconte des histoires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Pars d'un problème réel, montre ta galère, finis par la solution. L'histoire capte plus que le conseil.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3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169663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48128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Le terrain, ta mine d'idées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1472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Tes clients, tes échecs, l'actualité locale. Note chaque question qu'on te pose : c'est ton prochain post.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340096"/>
            <a:ext cx="10509473" cy="768096"/>
          </a:xfrm>
          <a:prstGeom prst="roundRect">
            <a:avLst>
              <a:gd name="adj" fmla="val 19047"/>
            </a:avLst>
          </a:prstGeom>
          <a:solidFill>
            <a:srgbClr val="1A2440"/>
          </a:solidFill>
          <a:ln w="15240">
            <a:solidFill>
              <a:srgbClr val="F6B43C"/>
            </a:solidFill>
          </a:ln>
          <a:effectLst>
            <a:outerShdw blurRad="228600" dist="101600" dir="5400000" rotWithShape="0">
              <a:srgbClr val="F6B43C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33856" y="5458968"/>
            <a:ext cx="530352" cy="53035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11-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728" y="5577840"/>
            <a:ext cx="292607" cy="2926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47088" y="5477256"/>
            <a:ext cx="9229313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À retenir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80" b="0">
                <a:solidFill>
                  <a:srgbClr val="AEB9D6"/>
                </a:solidFill>
                <a:latin typeface="Inter"/>
              </a:rPr>
              <a:t>Sans authenticité, aucune technique ne tient. C'est ta personnalité qui transforme un spectateur en abonné fidèle.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09 /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27432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291840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4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Créer du contenu AVEC l'IA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L'IA ne te remplace pas — elle multiplie ta vitesse. Tu gardes ton authenticité, tu gagnes 10× en productivité.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5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468879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10512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Des idées &amp; des hooks en rafale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Demande à une IA (ChatGPT, Claude) 20 angles sur ta niche et des accroches qui stoppent le scroll.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468879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48128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Scripts &amp; légendes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1472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Génère un script structuré (hook → valeur → action), puis réécris-le avec TES mots pour sonner vrai.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10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169663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10512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Visuels &amp; montage assistés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Miniatures, sous-titres, voix off, images : un rendu pro en quelques minutes (Canva, CapCut…).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18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169663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48128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Planifie &amp; recycle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1472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L'IA transforme 1 vidéo en 5 contenus : carrousel, citation, post texte. Publie plus sans t'épuiser.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340096"/>
            <a:ext cx="10509473" cy="768096"/>
          </a:xfrm>
          <a:prstGeom prst="roundRect">
            <a:avLst>
              <a:gd name="adj" fmla="val 19047"/>
            </a:avLst>
          </a:prstGeom>
          <a:solidFill>
            <a:srgbClr val="1A2440"/>
          </a:solidFill>
          <a:ln w="15240">
            <a:solidFill>
              <a:srgbClr val="5B8DEF"/>
            </a:solidFill>
          </a:ln>
          <a:effectLst>
            <a:outerShdw blurRad="228600" dist="101600" dir="5400000" rotWithShape="0">
              <a:srgbClr val="5B8DEF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33856" y="5458968"/>
            <a:ext cx="530352" cy="53035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728" y="5577840"/>
            <a:ext cx="292607" cy="2926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47088" y="5477256"/>
            <a:ext cx="9229313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Règle d'or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80" b="0">
                <a:solidFill>
                  <a:srgbClr val="AEB9D6"/>
                </a:solidFill>
                <a:latin typeface="Inter"/>
              </a:rPr>
              <a:t>L'IA propose, TU valides. Un contenu 100 % IA sonne faux : garde ta voix — l'IA n'est que ton assistant.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10 /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F6B43C">
                  <a:alpha val="40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FFD36E">
                  <a:alpha val="16000"/>
                </a:srgbClr>
              </a:gs>
              <a:gs pos="100000">
                <a:srgbClr val="FFD36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Les programmes de monétisation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Comment Facebook paie réellement les créateurs en 2025.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9260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4023359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2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 · MONÉTISATION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Le Content Monetization Program (CMP)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0817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Depuis 2025, Facebook unifie tout. Fini les programmes dispersés (In-Stream, Ads Reels, Bonus de performance).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11680"/>
            <a:ext cx="5071856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30428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267712"/>
            <a:ext cx="4157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50">
                <a:solidFill>
                  <a:srgbClr val="FB7185"/>
                </a:solidFill>
                <a:latin typeface="Inter SemiBold"/>
              </a:rPr>
              <a:t>AVANT — programmes dispersés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52928"/>
            <a:ext cx="4431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Publicités In-Stream · Ads sur Reels · Bonus de performance · Abonnements · Étoiles · Contenu de marque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864" y="2011680"/>
            <a:ext cx="5071856" cy="1783080"/>
          </a:xfrm>
          <a:prstGeom prst="roundRect">
            <a:avLst>
              <a:gd name="adj" fmla="val 8205"/>
            </a:avLst>
          </a:prstGeom>
          <a:solidFill>
            <a:srgbClr val="1A2440"/>
          </a:solidFill>
          <a:ln w="13970">
            <a:solidFill>
              <a:srgbClr val="3A4A78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9760" y="2304288"/>
            <a:ext cx="256032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2096" y="2267712"/>
            <a:ext cx="4157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DEPUIS 2025 — un système unique : le CMP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8048" y="2852928"/>
            <a:ext cx="4431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Un seul programme, un seul tableau de bord centralisé. Rémunération basée sur la performance de chaque contenu.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15568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1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4517136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5568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Tous les formats payés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Pas seulement les vidéos : aussi les photos, les posts texte, et bientôt les stories.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8037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2357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373" y="4517136"/>
            <a:ext cx="310896" cy="3108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2357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Basé sur la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2357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Vues, durée de visionnage, engagement et format déterminent tes gains.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4827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9147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-10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163" y="4517136"/>
            <a:ext cx="310896" cy="3108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329147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Tout centralisé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9147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Un tableau de bord unique pour suivre revenus, performances et conformité.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12 / 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74320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6B43C">
                  <a:alpha val="22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 · MONÉTISATION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Es-tu éligible ? Les conditions du CMP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Même avec des millions de vues, une page peut être refusée. La préparation fait la différence.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57984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450591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87751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5376" y="2414015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18 ans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5376" y="2779776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Et une page active ou un profil en mode professionnel.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157984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450591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344" y="2587751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02992" y="2414015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5 000 abonnés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2992" y="2779776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Parfois l'invitation arrive avant. Mon conseil : attends 50k et des publications virales.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84448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3877056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11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" y="4014216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65376" y="3840480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Conformité stricte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206240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Contenu original, pas de droits d'auteur violés, respect des normes communautaires.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584448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3877056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11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344" y="4014216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02992" y="3840480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Pays éligible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992" y="4206240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Selon la liste de Meta — et elle évolue. Sinon → Partie 4.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047488"/>
            <a:ext cx="10509473" cy="914400"/>
          </a:xfrm>
          <a:prstGeom prst="roundRect">
            <a:avLst>
              <a:gd name="adj" fmla="val 16000"/>
            </a:avLst>
          </a:prstGeom>
          <a:solidFill>
            <a:srgbClr val="2A1A20"/>
          </a:solidFill>
          <a:ln w="15240">
            <a:solidFill>
              <a:srgbClr val="FB7185"/>
            </a:solidFill>
          </a:ln>
          <a:effectLst>
            <a:outerShdw blurRad="254000" dist="114300" dir="5400000" rotWithShape="0">
              <a:srgbClr val="FB7185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52144" y="5221224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3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5349240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920240" y="5193792"/>
            <a:ext cx="913787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B7185"/>
                </a:solidFill>
                <a:latin typeface="Montserrat Bold"/>
              </a:rPr>
              <a:t>Le piège que beaucoup oublient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AEB9D6"/>
                </a:solidFill>
                <a:latin typeface="Inter"/>
              </a:rPr>
              <a:t>Sans compte de règlement validé, Facebook ne pourra JAMAIS te payer — même avec des millions de vues.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13 /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31D7E6">
                  <a:alpha val="40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5B8DEF">
                  <a:alpha val="1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Monétiser depuis un pays inéligible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Inéligible ne veut pas dire impossible. C'est un détour, pas une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9260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4023359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 · PAYS INÉLIGIBLE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La stratégie de contournement, étape par étape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0817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Légale et testée sur le terrain. La condition de base : une page déjà créée et bien développée.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11680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33856" y="2304288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304288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340864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Ajouter un admin éligible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999232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Un proche de confiance ou un prestataire résidant dans un pays éligible, avec contrôle total. Protège-toi via un portefeuille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11680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71472" y="2304288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1472" y="2304288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9568" y="2340864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Réinitialiser ton accès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9760" y="2999232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Déconnecte tes autres appareils, vide le cache, désinstalle Facebook. Active un VPN sur le pays éligible, vérifie via DNS leak test, réinstalle.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005072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33856" y="4297680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297680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1952" y="4334256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Attendre l'invitation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992624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L'admin ouvre la page régulièrement depuis le pays éligible. Dès que la condition « pays » est validée, tu passes à la config.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4005072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71472" y="4297680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1472" y="4297680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9568" y="4334256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Configurer SANS erreur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9760" y="4992624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Les infos du compte de règlement doivent venir du pays éligible. Garde le compte de règlement sur TON propre compte pour le contrôle.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15 / 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4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 · PAYS INÉLIGIBLE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4F7FF"/>
                </a:solidFill>
                <a:latin typeface="Montserrat ExtraBold"/>
              </a:rPr>
              <a:t>Encaisser : PayPal &amp; déblocage du compte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PayPal depuis un pays inéligible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3163824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Passe par le site (pas l'appli) et change le domaine : paypal.com/fr, /de, /be…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8" y="391363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7632" y="3840480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Numéro réel du pays éligible (évite les numéros virtuels).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8" y="459028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4517136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Email neuf dédié + adresse physique réelle d'un proche.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7008" y="5266944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193792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Crée un compte Business + un compte perso pour retirer via Xoom vers ton mobile money.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1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Compte de règlement bloqué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624" y="3154680"/>
            <a:ext cx="4340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90 % des créateurs inéligibles tombent dans ce piège : invités à la monétisation, ils configurent… et la validation est refusée.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4624" y="4297680"/>
            <a:ext cx="4340336" cy="960120"/>
          </a:xfrm>
          <a:prstGeom prst="roundRect">
            <a:avLst>
              <a:gd name="adj" fmla="val 1238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5792" y="4453128"/>
            <a:ext cx="3974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3DDC97"/>
                </a:solidFill>
                <a:latin typeface="Inter SemiBold"/>
              </a:rPr>
              <a:t>La solution : </a:t>
            </a:r>
            <a:r>
              <a:rPr sz="1250" b="0">
                <a:solidFill>
                  <a:srgbClr val="AEB9D6"/>
                </a:solidFill>
                <a:latin typeface="Inter"/>
              </a:rPr>
              <a:t>un compte bien configuré + le document Meta Payout Source Transfer, signé via Docusign et envoyé au support depuis ton ordinateur.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624" y="5394960"/>
            <a:ext cx="4340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7FF"/>
                </a:solidFill>
                <a:latin typeface="Inter SemiBold"/>
              </a:rPr>
              <a:t>Une fois validé, tu peux y relier ton propre PayPal.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16 / 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3DDC97">
                  <a:alpha val="40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4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31D7E6">
                  <a:alpha val="16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Montserrat Bold"/>
              </a:rPr>
              <a:t>PARTIE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Gérer les restrictions &amp; diversifier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Sécurise ta page, puis bâtis ton propre système de revenus.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7432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B7185">
                  <a:alpha val="22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0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5 · RESTRICTIONS &amp;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Protéger ta page &amp; ne pas dépendre de Facebook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Éviter &amp; gérer les restrictions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3163824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Respecte strictement les normes : pas de contenu trompeur, violent, haineux ou volé.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8" y="395020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7632" y="3877056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Surveille ton score de conformité dans Meta Business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8" y="4663440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4590288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Attention à la liaison Facebook–Instagram : une restriction sur l'un touche l'autre.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7008" y="537667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303520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En cas de sanction : garde ton calme et utilise les recours officiels.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2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F4F7FF"/>
                </a:solidFill>
                <a:latin typeface="Montserrat Bold"/>
              </a:rPr>
              <a:t>Facebook est un tremplin, pas un patron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44624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5248" y="3163824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Vends tes propres produits (physiques ou digitaux) : tu n'attends plus que Facebook te paie.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44624" y="3986784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5248" y="3913632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Aligne tes produits sur ta niche et ton audience (insights Facebook).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44624" y="473659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5248" y="4663440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Affiliation, événements payants, services personnalisés.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44624" y="5614416"/>
            <a:ext cx="4340336" cy="713232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3DDC97">
                  <a:alpha val="16000"/>
                </a:srgbClr>
              </a:gs>
              <a:gs pos="100000">
                <a:srgbClr val="31D7E6">
                  <a:alpha val="16000"/>
                </a:srgbClr>
              </a:gs>
            </a:gsLst>
            <a:lin ang="5400000" scaled="1"/>
          </a:gra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4624" y="5614416"/>
            <a:ext cx="434033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4F7FF"/>
                </a:solidFill>
                <a:latin typeface="Inter SemiBold"/>
              </a:rPr>
              <a:t>« Ne mets pas tous tes œufs dans le même panier. 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18 / 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103120"/>
            <a:ext cx="8412480" cy="8412480"/>
          </a:xfrm>
          <a:prstGeom prst="ellipse">
            <a:avLst/>
          </a:prstGeom>
          <a:gradFill rotWithShape="1">
            <a:gsLst>
              <a:gs pos="0">
                <a:srgbClr val="9B6DFF">
                  <a:alpha val="4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834640" y="-283464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5B8DEF">
                  <a:alpha val="32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20" y="-1463040"/>
            <a:ext cx="4023360" cy="4023360"/>
          </a:xfrm>
          <a:prstGeom prst="ellipse">
            <a:avLst/>
          </a:prstGeom>
          <a:gradFill rotWithShape="1">
            <a:gsLst>
              <a:gs pos="0">
                <a:srgbClr val="F6B43C">
                  <a:alpha val="16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092707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00583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ET MAINTENANT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72768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Je t'ai montré le </a:t>
            </a:r>
            <a:r>
              <a:rPr sz="44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QUOI</a:t>
            </a:r>
            <a:r>
              <a:rPr sz="4400" b="0">
                <a:solidFill>
                  <a:srgbClr val="F4F7FF"/>
                </a:solidFill>
                <a:latin typeface="Montserrat Black"/>
              </a:rPr>
              <a:t>.</a:t>
            </a:r>
          </a:p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Mon pack te donne le </a:t>
            </a:r>
            <a:r>
              <a:rPr sz="44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lack"/>
              </a:rPr>
              <a:t>COMMENT</a:t>
            </a:r>
            <a:r>
              <a:rPr sz="4400" b="0">
                <a:solidFill>
                  <a:srgbClr val="F4F7FF"/>
                </a:solidFill>
                <a:latin typeface="Montserrat Black"/>
              </a:rPr>
              <a:t>,</a:t>
            </a:r>
          </a:p>
          <a:p>
            <a:pPr algn="l">
              <a:lnSpc>
                <a:spcPct val="104000"/>
              </a:lnSpc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étape par étape.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767328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867912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17904" y="376732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4F7FF"/>
                </a:solidFill>
                <a:latin typeface="Inter Medium"/>
              </a:rPr>
              <a:t>Le guide complet, 7 chapitres, écrit à partir de mon expérience réelle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425696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4526280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17904" y="44256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4F7FF"/>
                </a:solidFill>
                <a:latin typeface="Inter Medium"/>
              </a:rPr>
              <a:t>Des tutoriels vidéo pas-à-pas pour la config et le déblocage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5084064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184648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17904" y="508406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4F7FF"/>
                </a:solidFill>
                <a:latin typeface="Inter Medium"/>
              </a:rPr>
              <a:t>Une communauté privée WhatsApp pour ne jamais rester bloqué</a:t>
            </a:r>
          </a:p>
        </p:txBody>
      </p:sp>
      <p:sp>
        <p:nvSpPr>
          <p:cNvPr id="18" name="Oval 17"/>
          <p:cNvSpPr/>
          <p:nvPr/>
        </p:nvSpPr>
        <p:spPr>
          <a:xfrm>
            <a:off x="8595359" y="3264408"/>
            <a:ext cx="2560320" cy="2560320"/>
          </a:xfrm>
          <a:prstGeom prst="ellipse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kevin-chris-digi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3310128"/>
            <a:ext cx="2468880" cy="24688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1080" y="5925312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5925312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Kevin Chris Atchof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49834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11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OFFRE SPÉCIALE DU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04672"/>
            <a:ext cx="1050947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4F7FF"/>
                </a:solidFill>
                <a:latin typeface="Montserrat ExtraBold"/>
              </a:rPr>
              <a:t>Choisis ton niveau d'accompagnement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7160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Trois façons de passer à l'action 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847088"/>
            <a:ext cx="3283701" cy="4389120"/>
          </a:xfrm>
          <a:prstGeom prst="roundRect">
            <a:avLst>
              <a:gd name="adj" fmla="val 445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3914" y="2267712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62" y="2423160"/>
            <a:ext cx="347471" cy="3474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4128" y="3072384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LE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19856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Guide Complet Monétisation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68496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5400000" scaled="1"/>
                </a:gradFill>
                <a:latin typeface="Montserrat Black"/>
              </a:rPr>
              <a:t>9 900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FCFA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480560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" y="4828031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992624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Les 7 chapitres complets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7667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L'algorithme &amp; la stratégie contenu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76072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Pour démarrer seul, à ton rythme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4133" y="1719072"/>
            <a:ext cx="3283701" cy="4553712"/>
          </a:xfrm>
          <a:prstGeom prst="roundRect">
            <a:avLst>
              <a:gd name="adj" fmla="val 4455"/>
            </a:avLst>
          </a:prstGeom>
          <a:solidFill>
            <a:srgbClr val="1A2440"/>
          </a:solidFill>
          <a:ln w="13970">
            <a:solidFill>
              <a:srgbClr val="F6B43C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90144" y="1719072"/>
            <a:ext cx="2011680" cy="3657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0144" y="171907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100">
                <a:solidFill>
                  <a:srgbClr val="1A1206"/>
                </a:solidFill>
                <a:latin typeface="Inter SemiBold"/>
              </a:rPr>
              <a:t>LE PLUS POPULAIRE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6800" y="2286000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1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248" y="2441448"/>
            <a:ext cx="347471" cy="3474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37013" y="3090672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LE PACK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8453" y="3438144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Guide + Formation Produits Digitaux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7013" y="3986784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5400000" scaled="1"/>
                </a:gradFill>
                <a:latin typeface="Montserrat Black"/>
              </a:rPr>
              <a:t>14 900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FCFA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7013" y="4498848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11333" y="4846320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605" y="501091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Tout le guide inclus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1605" y="539496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Créer &amp; vendre tes produits digitaux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1605" y="5779008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Le meilleur rapport valeur / prix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7019" y="1847088"/>
            <a:ext cx="3283701" cy="4389120"/>
          </a:xfrm>
          <a:prstGeom prst="roundRect">
            <a:avLst>
              <a:gd name="adj" fmla="val 445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9686" y="2267712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-18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5134" y="2423160"/>
            <a:ext cx="347471" cy="34747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49899" y="3072384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ACCOMPAGNEMENT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339" y="3419856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Coaching contenu + monétisation (1-to-1)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9899" y="3968496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99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9899" y="4480560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4219" y="4828031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4491" y="4992624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On travaille ensemble, en direct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4491" y="537667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Déblocage de page &amp; config guidée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4491" y="576072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Places très limitées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20 / 23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2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3840479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8978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0291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Montserrat Bold"/>
              </a:rPr>
              <a:t>ILS L'ONT DÉJÀ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96112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Des chiffres réels de la boutique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9961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Kevin Chris Digital — résultats vérifiables.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5400000" scaled="1"/>
                </a:gradFill>
                <a:latin typeface="Montserrat Black"/>
              </a:rPr>
              <a:t>400k+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abonnés sur les réseaux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6340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57236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20660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5400000" scaled="1"/>
                </a:gradFill>
                <a:latin typeface="Montserrat Black"/>
              </a:rPr>
              <a:t>364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7236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créateurs ont pris le guide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432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2328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5752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2328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ont choisi le pack complet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6525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67421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0845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5400000" scaled="1"/>
                </a:gradFill>
                <a:latin typeface="Montserrat Black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7421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d'avis positifs sur le guide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709160"/>
            <a:ext cx="10509473" cy="1234440"/>
          </a:xfrm>
          <a:prstGeom prst="roundRect">
            <a:avLst>
              <a:gd name="adj" fmla="val 11851"/>
            </a:avLst>
          </a:prstGeom>
          <a:solidFill>
            <a:srgbClr val="151D33"/>
          </a:solidFill>
          <a:ln w="12700">
            <a:solidFill>
              <a:srgbClr val="26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910328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5400000" scaled="1"/>
                </a:gradFill>
                <a:latin typeface="Montserrat Black"/>
              </a:rPr>
              <a:t>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68" y="4928616"/>
            <a:ext cx="895499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F4F7FF"/>
                </a:solidFill>
                <a:latin typeface="Inter SemiBold"/>
              </a:rPr>
              <a:t>« Là où il y a une grande volonté, il ne peut pas y avoir de grandes difficultés. »  </a:t>
            </a:r>
            <a:r>
              <a:rPr sz="1300" b="0">
                <a:solidFill>
                  <a:srgbClr val="7E8AAC"/>
                </a:solidFill>
                <a:latin typeface="Inter"/>
              </a:rPr>
              <a:t>— Machiavel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AEB9D6"/>
                </a:solidFill>
                <a:latin typeface="Inter Medium"/>
              </a:rPr>
              <a:t>Depuis l'Afrique, j'encaisse tous les mois. Toi aussi, tu peux.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21 / 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10896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0" y="-146304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31D7E6">
                  <a:alpha val="16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ILS ME FONT CONFIANCE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Le mur des créateurs accompagnés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Des créateurs, artistes et marques que j'aide à grandir et à monétiser au quotidien.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8536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aurisse-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256" y="2423160"/>
            <a:ext cx="694944" cy="694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Laurisse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Créatrice digitale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2416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Monétisation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83376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60664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e-mb-bandjoun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384" y="2423160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093104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Le MB Bandjounais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3104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Humoriste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84544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9680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Gestion de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5504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02792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etoile-kribien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12" y="2423160"/>
            <a:ext cx="694944" cy="6949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235232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L'étoile Kribienne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5232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Influenceuse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26672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1808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Certification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7632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44921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py-le-jongleu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0641" y="2423160"/>
            <a:ext cx="694944" cy="6949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77360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Papy Le Jongleur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7360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Artiste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68800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13936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Inter SemiBold"/>
              </a:rPr>
              <a:t>Facebook Ads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09761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87049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justine-ke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769" y="2423160"/>
            <a:ext cx="694944" cy="694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19489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Justine Kem's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9489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Créatrice lifestyle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10929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56065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Création de contenu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418536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dilane-nofole-p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4256" y="4398264"/>
            <a:ext cx="694944" cy="694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0976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Dilane Nofole Pro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Entrepreneur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2416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7552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Inter SemiBold"/>
              </a:rPr>
              <a:t>Audit de page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83376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60664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kevin-chris-digit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6384" y="4398264"/>
            <a:ext cx="694944" cy="69494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93104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93104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Coach digital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184544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29680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FaceHOOK Studio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25504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02792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mbanga-diaspor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8512" y="4398264"/>
            <a:ext cx="694944" cy="6949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35232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Mbanga Diaspora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35232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Média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326672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71808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Sécurité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67632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844921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alain-tchamo-officie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0641" y="4398264"/>
            <a:ext cx="694944" cy="69494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77360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Alain Tchamo Officiel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77360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Artiste musique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68800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13936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Monétisation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09761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7049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j-styvo-gods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2769" y="4398264"/>
            <a:ext cx="694944" cy="69494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519489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Dj Styvo Godson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19489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DJ / Artiste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610929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56065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Facebook Ads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22 / 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46720" y="-3931920"/>
            <a:ext cx="7315200" cy="7315200"/>
          </a:xfrm>
          <a:prstGeom prst="ellipse">
            <a:avLst/>
          </a:prstGeom>
          <a:gradFill rotWithShape="1">
            <a:gsLst>
              <a:gs pos="0">
                <a:srgbClr val="9B6DFF">
                  <a:alpha val="38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931920" y="3383280"/>
            <a:ext cx="7315200" cy="7315200"/>
          </a:xfrm>
          <a:prstGeom prst="ellipse">
            <a:avLst/>
          </a:prstGeom>
          <a:gradFill rotWithShape="1">
            <a:gsLst>
              <a:gs pos="0">
                <a:srgbClr val="5B8DEF">
                  <a:alpha val="3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0" y="4206240"/>
            <a:ext cx="4023360" cy="4023360"/>
          </a:xfrm>
          <a:prstGeom prst="ellipse">
            <a:avLst/>
          </a:prstGeom>
          <a:gradFill rotWithShape="1">
            <a:gsLst>
              <a:gs pos="0">
                <a:srgbClr val="F6B43C">
                  <a:alpha val="16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955547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8686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C'EST À TOI DE JOUER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716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>
                <a:solidFill>
                  <a:srgbClr val="F4F7FF"/>
                </a:solidFill>
                <a:latin typeface="Montserrat Black"/>
              </a:rPr>
              <a:t>Passe à l'action </a:t>
            </a:r>
            <a:r>
              <a:rPr sz="48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maintenant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6888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>
                <a:solidFill>
                  <a:srgbClr val="AEB9D6"/>
                </a:solidFill>
                <a:latin typeface="Inter"/>
              </a:rPr>
              <a:t>Tu as deux choix : continuer à publier sans résultats… ou appliquer la méthode et transformer Facebook en source de revenus.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611880"/>
            <a:ext cx="5071856" cy="1371600"/>
          </a:xfrm>
          <a:prstGeom prst="roundRect">
            <a:avLst>
              <a:gd name="adj" fmla="val 1066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4" y="3959352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2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4114800"/>
            <a:ext cx="365759" cy="3657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29968" y="3886200"/>
            <a:ext cx="3700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boutique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4361688"/>
            <a:ext cx="3700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Medium"/>
              </a:rPr>
              <a:t>formation.kevinchrisdigital.com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64" y="3611880"/>
            <a:ext cx="5071856" cy="1371600"/>
          </a:xfrm>
          <a:prstGeom prst="roundRect">
            <a:avLst>
              <a:gd name="adj" fmla="val 1066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9760" y="3959352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208" y="4114800"/>
            <a:ext cx="365759" cy="3657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67584" y="3886200"/>
            <a:ext cx="3700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Accompagnement perso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7584" y="4361688"/>
            <a:ext cx="3700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Medium"/>
              </a:rPr>
              <a:t>wa.me/message/RKOEMXQRVJD7L1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49240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4F7FF"/>
                </a:solidFill>
                <a:latin typeface="Montserrat Bold"/>
              </a:rPr>
              <a:t>Merci d'avoir suivi cette masterclass — à toi de jouer.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